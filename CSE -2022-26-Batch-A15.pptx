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B2261C-E644-4F5E-BB6B-01744297466A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39BADE-1E73-47B9-85F4-C783C6E01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709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9BADE-1E73-47B9-85F4-C783C6E0193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3667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2814" y="6642719"/>
            <a:ext cx="5498465" cy="215265"/>
          </a:xfrm>
          <a:custGeom>
            <a:avLst/>
            <a:gdLst/>
            <a:ahLst/>
            <a:cxnLst/>
            <a:rect l="l" t="t" r="r" b="b"/>
            <a:pathLst>
              <a:path w="5498465" h="215265">
                <a:moveTo>
                  <a:pt x="0" y="214919"/>
                </a:moveTo>
                <a:lnTo>
                  <a:pt x="5498224" y="214919"/>
                </a:lnTo>
                <a:lnTo>
                  <a:pt x="5498224" y="0"/>
                </a:lnTo>
                <a:lnTo>
                  <a:pt x="0" y="0"/>
                </a:lnTo>
                <a:lnTo>
                  <a:pt x="0" y="214919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431400" y="6641999"/>
            <a:ext cx="5191760" cy="215900"/>
          </a:xfrm>
          <a:custGeom>
            <a:avLst/>
            <a:gdLst/>
            <a:ahLst/>
            <a:cxnLst/>
            <a:rect l="l" t="t" r="r" b="b"/>
            <a:pathLst>
              <a:path w="5191759" h="215900">
                <a:moveTo>
                  <a:pt x="0" y="215639"/>
                </a:moveTo>
                <a:lnTo>
                  <a:pt x="5191639" y="215639"/>
                </a:lnTo>
                <a:lnTo>
                  <a:pt x="5191639" y="0"/>
                </a:lnTo>
                <a:lnTo>
                  <a:pt x="0" y="0"/>
                </a:lnTo>
                <a:lnTo>
                  <a:pt x="0" y="215639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623040" y="6642099"/>
            <a:ext cx="568960" cy="215900"/>
          </a:xfrm>
          <a:custGeom>
            <a:avLst/>
            <a:gdLst/>
            <a:ahLst/>
            <a:cxnLst/>
            <a:rect l="l" t="t" r="r" b="b"/>
            <a:pathLst>
              <a:path w="568959" h="215900">
                <a:moveTo>
                  <a:pt x="568959" y="215899"/>
                </a:moveTo>
                <a:lnTo>
                  <a:pt x="0" y="215899"/>
                </a:lnTo>
                <a:lnTo>
                  <a:pt x="0" y="0"/>
                </a:lnTo>
                <a:lnTo>
                  <a:pt x="568959" y="0"/>
                </a:lnTo>
                <a:lnTo>
                  <a:pt x="568959" y="215899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06320" y="5956200"/>
            <a:ext cx="685439" cy="68128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642734"/>
            <a:ext cx="932815" cy="214629"/>
          </a:xfrm>
          <a:custGeom>
            <a:avLst/>
            <a:gdLst/>
            <a:ahLst/>
            <a:cxnLst/>
            <a:rect l="l" t="t" r="r" b="b"/>
            <a:pathLst>
              <a:path w="932815" h="214629">
                <a:moveTo>
                  <a:pt x="932814" y="214629"/>
                </a:moveTo>
                <a:lnTo>
                  <a:pt x="0" y="214629"/>
                </a:lnTo>
                <a:lnTo>
                  <a:pt x="0" y="0"/>
                </a:lnTo>
                <a:lnTo>
                  <a:pt x="932814" y="0"/>
                </a:lnTo>
                <a:lnTo>
                  <a:pt x="932814" y="21462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2814" y="6642719"/>
            <a:ext cx="5498465" cy="215265"/>
          </a:xfrm>
          <a:custGeom>
            <a:avLst/>
            <a:gdLst/>
            <a:ahLst/>
            <a:cxnLst/>
            <a:rect l="l" t="t" r="r" b="b"/>
            <a:pathLst>
              <a:path w="5498465" h="215265">
                <a:moveTo>
                  <a:pt x="0" y="214919"/>
                </a:moveTo>
                <a:lnTo>
                  <a:pt x="5498224" y="214919"/>
                </a:lnTo>
                <a:lnTo>
                  <a:pt x="5498224" y="0"/>
                </a:lnTo>
                <a:lnTo>
                  <a:pt x="0" y="0"/>
                </a:lnTo>
                <a:lnTo>
                  <a:pt x="0" y="214919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431400" y="6641999"/>
            <a:ext cx="5191760" cy="215900"/>
          </a:xfrm>
          <a:custGeom>
            <a:avLst/>
            <a:gdLst/>
            <a:ahLst/>
            <a:cxnLst/>
            <a:rect l="l" t="t" r="r" b="b"/>
            <a:pathLst>
              <a:path w="5191759" h="215900">
                <a:moveTo>
                  <a:pt x="0" y="215639"/>
                </a:moveTo>
                <a:lnTo>
                  <a:pt x="5191639" y="215639"/>
                </a:lnTo>
                <a:lnTo>
                  <a:pt x="5191639" y="0"/>
                </a:lnTo>
                <a:lnTo>
                  <a:pt x="0" y="0"/>
                </a:lnTo>
                <a:lnTo>
                  <a:pt x="0" y="215639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623040" y="6642099"/>
            <a:ext cx="568960" cy="215900"/>
          </a:xfrm>
          <a:custGeom>
            <a:avLst/>
            <a:gdLst/>
            <a:ahLst/>
            <a:cxnLst/>
            <a:rect l="l" t="t" r="r" b="b"/>
            <a:pathLst>
              <a:path w="568959" h="215900">
                <a:moveTo>
                  <a:pt x="568959" y="215899"/>
                </a:moveTo>
                <a:lnTo>
                  <a:pt x="0" y="215899"/>
                </a:lnTo>
                <a:lnTo>
                  <a:pt x="0" y="0"/>
                </a:lnTo>
                <a:lnTo>
                  <a:pt x="568959" y="0"/>
                </a:lnTo>
                <a:lnTo>
                  <a:pt x="568959" y="215899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06320" y="5956200"/>
            <a:ext cx="685439" cy="68128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642734"/>
            <a:ext cx="932815" cy="214629"/>
          </a:xfrm>
          <a:custGeom>
            <a:avLst/>
            <a:gdLst/>
            <a:ahLst/>
            <a:cxnLst/>
            <a:rect l="l" t="t" r="r" b="b"/>
            <a:pathLst>
              <a:path w="932815" h="214629">
                <a:moveTo>
                  <a:pt x="932814" y="214629"/>
                </a:moveTo>
                <a:lnTo>
                  <a:pt x="0" y="214629"/>
                </a:lnTo>
                <a:lnTo>
                  <a:pt x="0" y="0"/>
                </a:lnTo>
                <a:lnTo>
                  <a:pt x="932814" y="0"/>
                </a:lnTo>
                <a:lnTo>
                  <a:pt x="932814" y="21462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2814" y="6642719"/>
            <a:ext cx="5498465" cy="215265"/>
          </a:xfrm>
          <a:custGeom>
            <a:avLst/>
            <a:gdLst/>
            <a:ahLst/>
            <a:cxnLst/>
            <a:rect l="l" t="t" r="r" b="b"/>
            <a:pathLst>
              <a:path w="5498465" h="215265">
                <a:moveTo>
                  <a:pt x="0" y="214919"/>
                </a:moveTo>
                <a:lnTo>
                  <a:pt x="5498224" y="214919"/>
                </a:lnTo>
                <a:lnTo>
                  <a:pt x="5498224" y="0"/>
                </a:lnTo>
                <a:lnTo>
                  <a:pt x="0" y="0"/>
                </a:lnTo>
                <a:lnTo>
                  <a:pt x="0" y="214919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431400" y="6641999"/>
            <a:ext cx="5191760" cy="215900"/>
          </a:xfrm>
          <a:custGeom>
            <a:avLst/>
            <a:gdLst/>
            <a:ahLst/>
            <a:cxnLst/>
            <a:rect l="l" t="t" r="r" b="b"/>
            <a:pathLst>
              <a:path w="5191759" h="215900">
                <a:moveTo>
                  <a:pt x="0" y="215639"/>
                </a:moveTo>
                <a:lnTo>
                  <a:pt x="5191639" y="215639"/>
                </a:lnTo>
                <a:lnTo>
                  <a:pt x="5191639" y="0"/>
                </a:lnTo>
                <a:lnTo>
                  <a:pt x="0" y="0"/>
                </a:lnTo>
                <a:lnTo>
                  <a:pt x="0" y="215639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623040" y="6642099"/>
            <a:ext cx="568960" cy="215900"/>
          </a:xfrm>
          <a:custGeom>
            <a:avLst/>
            <a:gdLst/>
            <a:ahLst/>
            <a:cxnLst/>
            <a:rect l="l" t="t" r="r" b="b"/>
            <a:pathLst>
              <a:path w="568959" h="215900">
                <a:moveTo>
                  <a:pt x="568959" y="215899"/>
                </a:moveTo>
                <a:lnTo>
                  <a:pt x="0" y="215899"/>
                </a:lnTo>
                <a:lnTo>
                  <a:pt x="0" y="0"/>
                </a:lnTo>
                <a:lnTo>
                  <a:pt x="568959" y="0"/>
                </a:lnTo>
                <a:lnTo>
                  <a:pt x="568959" y="215899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06320" y="5956200"/>
            <a:ext cx="685439" cy="68128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642734"/>
            <a:ext cx="932815" cy="214629"/>
          </a:xfrm>
          <a:custGeom>
            <a:avLst/>
            <a:gdLst/>
            <a:ahLst/>
            <a:cxnLst/>
            <a:rect l="l" t="t" r="r" b="b"/>
            <a:pathLst>
              <a:path w="932815" h="214629">
                <a:moveTo>
                  <a:pt x="932814" y="214629"/>
                </a:moveTo>
                <a:lnTo>
                  <a:pt x="0" y="214629"/>
                </a:lnTo>
                <a:lnTo>
                  <a:pt x="0" y="0"/>
                </a:lnTo>
                <a:lnTo>
                  <a:pt x="932814" y="0"/>
                </a:lnTo>
                <a:lnTo>
                  <a:pt x="932814" y="21462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025" y="182323"/>
            <a:ext cx="4739005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6899" y="1074318"/>
            <a:ext cx="11346815" cy="3137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5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773949" y="6629558"/>
            <a:ext cx="3661410" cy="25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5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7240" y="6634439"/>
            <a:ext cx="11414634" cy="226020"/>
            <a:chOff x="777240" y="6631919"/>
            <a:chExt cx="11414634" cy="226020"/>
          </a:xfrm>
        </p:grpSpPr>
        <p:sp>
          <p:nvSpPr>
            <p:cNvPr id="3" name="object 3"/>
            <p:cNvSpPr/>
            <p:nvPr/>
          </p:nvSpPr>
          <p:spPr>
            <a:xfrm>
              <a:off x="777240" y="6631920"/>
              <a:ext cx="5781675" cy="220979"/>
            </a:xfrm>
            <a:custGeom>
              <a:avLst/>
              <a:gdLst/>
              <a:ahLst/>
              <a:cxnLst/>
              <a:rect l="l" t="t" r="r" b="b"/>
              <a:pathLst>
                <a:path w="5781675" h="220979">
                  <a:moveTo>
                    <a:pt x="5781599" y="220679"/>
                  </a:moveTo>
                  <a:lnTo>
                    <a:pt x="0" y="220679"/>
                  </a:lnTo>
                  <a:lnTo>
                    <a:pt x="0" y="0"/>
                  </a:lnTo>
                  <a:lnTo>
                    <a:pt x="5781599" y="0"/>
                  </a:lnTo>
                  <a:lnTo>
                    <a:pt x="5781599" y="220679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pPr>
                <a:lnSpc>
                  <a:spcPts val="1839"/>
                </a:lnSpc>
              </a:pPr>
              <a:r>
                <a:rPr lang="en-US" b="1" dirty="0">
                  <a:solidFill>
                    <a:schemeClr val="bg1"/>
                  </a:solidFill>
                </a:rPr>
                <a:t>        </a:t>
              </a:r>
              <a:r>
                <a:rPr lang="en-US" sz="1600" dirty="0">
                  <a:solidFill>
                    <a:schemeClr val="bg1"/>
                  </a:solidFill>
                </a:rPr>
                <a:t>Department of Computer Science and Engineering</a:t>
              </a:r>
              <a:endParaRPr sz="1600" dirty="0">
                <a:solidFill>
                  <a:schemeClr val="bg1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6559424" y="6631919"/>
              <a:ext cx="5194935" cy="220979"/>
            </a:xfrm>
            <a:custGeom>
              <a:avLst/>
              <a:gdLst/>
              <a:ahLst/>
              <a:cxnLst/>
              <a:rect l="l" t="t" r="r" b="b"/>
              <a:pathLst>
                <a:path w="5194934" h="220979">
                  <a:moveTo>
                    <a:pt x="5194799" y="220679"/>
                  </a:moveTo>
                  <a:lnTo>
                    <a:pt x="0" y="220679"/>
                  </a:lnTo>
                  <a:lnTo>
                    <a:pt x="0" y="0"/>
                  </a:lnTo>
                  <a:lnTo>
                    <a:pt x="5194799" y="0"/>
                  </a:lnTo>
                  <a:lnTo>
                    <a:pt x="5194799" y="220679"/>
                  </a:lnTo>
                  <a:close/>
                </a:path>
              </a:pathLst>
            </a:custGeom>
            <a:solidFill>
              <a:srgbClr val="008080"/>
            </a:solidFill>
          </p:spPr>
          <p:txBody>
            <a:bodyPr wrap="square" lIns="0" tIns="0" rIns="0" bIns="0" rtlCol="0"/>
            <a:lstStyle/>
            <a:p>
              <a:pPr>
                <a:lnSpc>
                  <a:spcPts val="1800"/>
                </a:lnSpc>
              </a:pPr>
              <a:r>
                <a:rPr lang="en-US" b="1" dirty="0">
                  <a:solidFill>
                    <a:schemeClr val="bg1"/>
                  </a:solidFill>
                </a:rPr>
                <a:t>     </a:t>
              </a:r>
              <a:r>
                <a:rPr lang="en-US" sz="1700" dirty="0">
                  <a:solidFill>
                    <a:schemeClr val="bg1"/>
                  </a:solidFill>
                </a:rPr>
                <a:t>Srinivasa Ramanujan Institute of Technology</a:t>
              </a:r>
              <a:endParaRPr sz="1700" dirty="0">
                <a:solidFill>
                  <a:schemeClr val="bg1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1754359" y="6636960"/>
              <a:ext cx="437515" cy="220979"/>
            </a:xfrm>
            <a:custGeom>
              <a:avLst/>
              <a:gdLst/>
              <a:ahLst/>
              <a:cxnLst/>
              <a:rect l="l" t="t" r="r" b="b"/>
              <a:pathLst>
                <a:path w="437515" h="220979">
                  <a:moveTo>
                    <a:pt x="437399" y="220679"/>
                  </a:moveTo>
                  <a:lnTo>
                    <a:pt x="0" y="220679"/>
                  </a:lnTo>
                  <a:lnTo>
                    <a:pt x="0" y="0"/>
                  </a:lnTo>
                  <a:lnTo>
                    <a:pt x="437399" y="0"/>
                  </a:lnTo>
                  <a:lnTo>
                    <a:pt x="437399" y="220679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pPr>
                <a:lnSpc>
                  <a:spcPts val="1845"/>
                </a:lnSpc>
              </a:pPr>
              <a:r>
                <a:rPr lang="en-US" dirty="0"/>
                <a:t>  </a:t>
              </a:r>
              <a:r>
                <a:rPr lang="en-US" sz="1600" b="1" dirty="0"/>
                <a:t>01</a:t>
              </a:r>
              <a:endParaRPr sz="1600" b="1" dirty="0"/>
            </a:p>
          </p:txBody>
        </p:sp>
      </p:grpSp>
      <p:sp>
        <p:nvSpPr>
          <p:cNvPr id="6" name="object 6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6634441"/>
            <a:ext cx="777240" cy="220978"/>
          </a:xfrm>
          <a:custGeom>
            <a:avLst/>
            <a:gdLst/>
            <a:ahLst/>
            <a:cxnLst/>
            <a:rect l="l" t="t" r="r" b="b"/>
            <a:pathLst>
              <a:path w="777240" h="221615">
                <a:moveTo>
                  <a:pt x="776879" y="221039"/>
                </a:moveTo>
                <a:lnTo>
                  <a:pt x="0" y="221039"/>
                </a:lnTo>
                <a:lnTo>
                  <a:pt x="0" y="0"/>
                </a:lnTo>
                <a:lnTo>
                  <a:pt x="776879" y="0"/>
                </a:lnTo>
                <a:lnTo>
                  <a:pt x="776879" y="22103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pPr marL="14400">
              <a:lnSpc>
                <a:spcPts val="1845"/>
              </a:lnSpc>
            </a:pPr>
            <a:r>
              <a:rPr lang="en-US" sz="1600" dirty="0">
                <a:solidFill>
                  <a:schemeClr val="bg1"/>
                </a:solidFill>
              </a:rPr>
              <a:t>  A - 15</a:t>
            </a:r>
            <a:endParaRPr sz="1600" dirty="0">
              <a:solidFill>
                <a:schemeClr val="bg1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67800" y="1735293"/>
            <a:ext cx="2255390" cy="4248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2080"/>
              </a:lnSpc>
              <a:spcBef>
                <a:spcPts val="105"/>
              </a:spcBef>
            </a:pPr>
            <a:r>
              <a:rPr lang="en-US" sz="2400" dirty="0">
                <a:latin typeface="Times New Roman"/>
                <a:cs typeface="Times New Roman"/>
              </a:rPr>
              <a:t>V. Likith Kumar</a:t>
            </a:r>
            <a:endParaRPr sz="2400" dirty="0">
              <a:latin typeface="Times New Roman"/>
              <a:cs typeface="Times New Roman"/>
            </a:endParaRPr>
          </a:p>
          <a:p>
            <a:pPr marL="635" algn="ctr">
              <a:lnSpc>
                <a:spcPts val="1060"/>
              </a:lnSpc>
            </a:pPr>
            <a:r>
              <a:rPr sz="1100" dirty="0">
                <a:latin typeface="Times New Roman"/>
                <a:cs typeface="Times New Roman"/>
              </a:rPr>
              <a:t>Roll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No.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2</a:t>
            </a:r>
            <a:r>
              <a:rPr lang="en-US" sz="1100" spc="-10" dirty="0">
                <a:latin typeface="Times New Roman"/>
                <a:cs typeface="Times New Roman"/>
              </a:rPr>
              <a:t>2</a:t>
            </a:r>
            <a:r>
              <a:rPr sz="1100" spc="-10" dirty="0">
                <a:latin typeface="Times New Roman"/>
                <a:cs typeface="Times New Roman"/>
              </a:rPr>
              <a:t>4G1A05</a:t>
            </a:r>
            <a:r>
              <a:rPr lang="en-US" sz="1100" spc="-10" dirty="0">
                <a:latin typeface="Times New Roman"/>
                <a:cs typeface="Times New Roman"/>
              </a:rPr>
              <a:t>42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38600" y="2476799"/>
            <a:ext cx="3689048" cy="93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ts val="1630"/>
              </a:lnSpc>
              <a:spcBef>
                <a:spcPts val="100"/>
              </a:spcBef>
            </a:pPr>
            <a:r>
              <a:rPr sz="1400" i="1" dirty="0">
                <a:latin typeface="Times New Roman"/>
                <a:cs typeface="Times New Roman"/>
              </a:rPr>
              <a:t>Under</a:t>
            </a:r>
            <a:r>
              <a:rPr sz="1400" i="1" spc="-3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the</a:t>
            </a:r>
            <a:r>
              <a:rPr sz="1400" i="1" spc="-35" dirty="0">
                <a:latin typeface="Times New Roman"/>
                <a:cs typeface="Times New Roman"/>
              </a:rPr>
              <a:t> </a:t>
            </a:r>
            <a:r>
              <a:rPr sz="1400" i="1" spc="-10" dirty="0">
                <a:latin typeface="Times New Roman"/>
                <a:cs typeface="Times New Roman"/>
              </a:rPr>
              <a:t>guidance</a:t>
            </a:r>
            <a:r>
              <a:rPr sz="1400" i="1" spc="-35" dirty="0">
                <a:latin typeface="Times New Roman"/>
                <a:cs typeface="Times New Roman"/>
              </a:rPr>
              <a:t> </a:t>
            </a:r>
            <a:r>
              <a:rPr sz="1400" i="1" spc="-25" dirty="0">
                <a:latin typeface="Times New Roman"/>
                <a:cs typeface="Times New Roman"/>
              </a:rPr>
              <a:t>of</a:t>
            </a:r>
            <a:endParaRPr lang="en-IN" sz="1400" dirty="0">
              <a:latin typeface="Times New Roman"/>
              <a:cs typeface="Times New Roman"/>
            </a:endParaRPr>
          </a:p>
          <a:p>
            <a:pPr marL="12065" marR="5080" algn="ctr">
              <a:lnSpc>
                <a:spcPts val="2790"/>
              </a:lnSpc>
              <a:spcBef>
                <a:spcPts val="114"/>
              </a:spcBef>
            </a:pPr>
            <a:r>
              <a:rPr lang="en-IN" sz="2400" dirty="0">
                <a:latin typeface="Times New Roman"/>
                <a:cs typeface="Times New Roman"/>
              </a:rPr>
              <a:t>Dr. P. Veera Prakash, </a:t>
            </a:r>
            <a:r>
              <a:rPr lang="en-IN" sz="1100" dirty="0" err="1">
                <a:latin typeface="Times New Roman"/>
                <a:cs typeface="Times New Roman"/>
              </a:rPr>
              <a:t>M.Tech</a:t>
            </a:r>
            <a:r>
              <a:rPr lang="en-IN" sz="1100" dirty="0">
                <a:latin typeface="Times New Roman"/>
                <a:cs typeface="Times New Roman"/>
              </a:rPr>
              <a:t>., </a:t>
            </a:r>
            <a:r>
              <a:rPr lang="en-IN" sz="1100" dirty="0" err="1">
                <a:latin typeface="Times New Roman"/>
                <a:cs typeface="Times New Roman"/>
              </a:rPr>
              <a:t>Ph.D</a:t>
            </a:r>
            <a:endParaRPr lang="en-IN" sz="1100" dirty="0">
              <a:latin typeface="Times New Roman"/>
              <a:cs typeface="Times New Roman"/>
            </a:endParaRPr>
          </a:p>
          <a:p>
            <a:pPr marL="12065" marR="5080" algn="ctr">
              <a:lnSpc>
                <a:spcPts val="2790"/>
              </a:lnSpc>
              <a:spcBef>
                <a:spcPts val="114"/>
              </a:spcBef>
            </a:pPr>
            <a:r>
              <a:rPr lang="en-IN" sz="2000" dirty="0">
                <a:latin typeface="Times New Roman"/>
                <a:cs typeface="Times New Roman"/>
              </a:rPr>
              <a:t>     Assistant Professor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147578" y="5096081"/>
            <a:ext cx="7987022" cy="1457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445" algn="ctr">
              <a:lnSpc>
                <a:spcPts val="2300"/>
              </a:lnSpc>
              <a:spcBef>
                <a:spcPts val="105"/>
              </a:spcBef>
            </a:pPr>
            <a:r>
              <a:rPr sz="2200" dirty="0">
                <a:latin typeface="Times New Roman"/>
                <a:cs typeface="Times New Roman"/>
              </a:rPr>
              <a:t>Department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Computer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Science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Engineering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endParaRPr sz="2200" dirty="0">
              <a:latin typeface="Times New Roman"/>
              <a:cs typeface="Times New Roman"/>
            </a:endParaRPr>
          </a:p>
          <a:p>
            <a:pPr algn="ctr">
              <a:lnSpc>
                <a:spcPts val="3565"/>
              </a:lnSpc>
            </a:pPr>
            <a:r>
              <a:rPr sz="3400" dirty="0">
                <a:solidFill>
                  <a:srgbClr val="FF0000"/>
                </a:solidFill>
                <a:latin typeface="Times New Roman"/>
                <a:cs typeface="Times New Roman"/>
              </a:rPr>
              <a:t>Srinivasa</a:t>
            </a:r>
            <a:r>
              <a:rPr sz="3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FF0000"/>
                </a:solidFill>
                <a:latin typeface="Times New Roman"/>
                <a:cs typeface="Times New Roman"/>
              </a:rPr>
              <a:t>Ramanujan</a:t>
            </a:r>
            <a:r>
              <a:rPr sz="3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FF0000"/>
                </a:solidFill>
                <a:latin typeface="Times New Roman"/>
                <a:cs typeface="Times New Roman"/>
              </a:rPr>
              <a:t>Institute</a:t>
            </a:r>
            <a:r>
              <a:rPr sz="3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3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FF0000"/>
                </a:solidFill>
                <a:latin typeface="Times New Roman"/>
                <a:cs typeface="Times New Roman"/>
              </a:rPr>
              <a:t>Technology</a:t>
            </a:r>
            <a:endParaRPr sz="3400" dirty="0">
              <a:latin typeface="Times New Roman"/>
              <a:cs typeface="Times New Roman"/>
            </a:endParaRPr>
          </a:p>
          <a:p>
            <a:pPr marL="6350" algn="ctr">
              <a:lnSpc>
                <a:spcPts val="1850"/>
              </a:lnSpc>
            </a:pPr>
            <a:r>
              <a:rPr sz="1750" b="1" spc="-10" dirty="0">
                <a:latin typeface="Times New Roman"/>
                <a:cs typeface="Times New Roman"/>
              </a:rPr>
              <a:t>Autonomous</a:t>
            </a:r>
            <a:endParaRPr sz="1750" dirty="0">
              <a:latin typeface="Times New Roman"/>
              <a:cs typeface="Times New Roman"/>
            </a:endParaRPr>
          </a:p>
          <a:p>
            <a:pPr marL="7620" algn="ctr">
              <a:lnSpc>
                <a:spcPts val="1370"/>
              </a:lnSpc>
            </a:pPr>
            <a:r>
              <a:rPr sz="1200" b="1" dirty="0">
                <a:latin typeface="Times New Roman"/>
                <a:cs typeface="Times New Roman"/>
              </a:rPr>
              <a:t>Rotarypuram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Village,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K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Samudram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Mandal,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Ananthapuramu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–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515701.</a:t>
            </a:r>
            <a:endParaRPr sz="1200" dirty="0">
              <a:latin typeface="Times New Roman"/>
              <a:cs typeface="Times New Roman"/>
            </a:endParaRPr>
          </a:p>
          <a:p>
            <a:pPr marL="6985" algn="ctr">
              <a:lnSpc>
                <a:spcPct val="100000"/>
              </a:lnSpc>
              <a:spcBef>
                <a:spcPts val="545"/>
              </a:spcBef>
            </a:pPr>
            <a:r>
              <a:rPr sz="1300" b="1" dirty="0">
                <a:solidFill>
                  <a:srgbClr val="1E4E78"/>
                </a:solidFill>
                <a:latin typeface="Times New Roman"/>
                <a:cs typeface="Times New Roman"/>
              </a:rPr>
              <a:t>202</a:t>
            </a:r>
            <a:r>
              <a:rPr lang="en-US" sz="1300" b="1" dirty="0">
                <a:solidFill>
                  <a:srgbClr val="1E4E78"/>
                </a:solidFill>
                <a:latin typeface="Times New Roman"/>
                <a:cs typeface="Times New Roman"/>
              </a:rPr>
              <a:t>5</a:t>
            </a:r>
            <a:r>
              <a:rPr sz="1300" b="1" dirty="0">
                <a:solidFill>
                  <a:srgbClr val="1E4E78"/>
                </a:solidFill>
                <a:latin typeface="Times New Roman"/>
                <a:cs typeface="Times New Roman"/>
              </a:rPr>
              <a:t>-</a:t>
            </a:r>
            <a:r>
              <a:rPr sz="1300" b="1" spc="-20" dirty="0">
                <a:solidFill>
                  <a:srgbClr val="1E4E78"/>
                </a:solidFill>
                <a:latin typeface="Times New Roman"/>
                <a:cs typeface="Times New Roman"/>
              </a:rPr>
              <a:t>202</a:t>
            </a:r>
            <a:r>
              <a:rPr lang="en-US" sz="1300" b="1" spc="-20" dirty="0">
                <a:solidFill>
                  <a:srgbClr val="1E4E78"/>
                </a:solidFill>
                <a:latin typeface="Times New Roman"/>
                <a:cs typeface="Times New Roman"/>
              </a:rPr>
              <a:t>6</a:t>
            </a:r>
            <a:endParaRPr sz="13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24400" y="1724463"/>
            <a:ext cx="2743200" cy="46545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algn="ctr">
              <a:lnSpc>
                <a:spcPts val="2380"/>
              </a:lnSpc>
              <a:spcBef>
                <a:spcPts val="115"/>
              </a:spcBef>
            </a:pPr>
            <a:r>
              <a:rPr lang="en-US" sz="2400" dirty="0">
                <a:latin typeface="Times New Roman"/>
                <a:cs typeface="Times New Roman"/>
              </a:rPr>
              <a:t>B. Shantha Vardhan</a:t>
            </a:r>
            <a:endParaRPr sz="2400" dirty="0">
              <a:latin typeface="Times New Roman"/>
              <a:cs typeface="Times New Roman"/>
            </a:endParaRPr>
          </a:p>
          <a:p>
            <a:pPr marL="1270" algn="ctr">
              <a:lnSpc>
                <a:spcPts val="1060"/>
              </a:lnSpc>
            </a:pPr>
            <a:r>
              <a:rPr sz="1100" dirty="0">
                <a:latin typeface="Times New Roman"/>
                <a:cs typeface="Times New Roman"/>
              </a:rPr>
              <a:t>Roll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No.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lang="en-US" sz="1100" spc="-10" dirty="0">
                <a:latin typeface="Times New Roman"/>
                <a:cs typeface="Times New Roman"/>
              </a:rPr>
              <a:t>2</a:t>
            </a:r>
            <a:r>
              <a:rPr sz="1100" spc="-10" dirty="0">
                <a:latin typeface="Times New Roman"/>
                <a:cs typeface="Times New Roman"/>
              </a:rPr>
              <a:t>24G1A05</a:t>
            </a:r>
            <a:r>
              <a:rPr lang="en-US" sz="1100" spc="-10" dirty="0">
                <a:latin typeface="Times New Roman"/>
                <a:cs typeface="Times New Roman"/>
              </a:rPr>
              <a:t>97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97237" y="1737539"/>
            <a:ext cx="2169795" cy="5520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lang="en-US" sz="2400" dirty="0">
                <a:latin typeface="Times New Roman"/>
                <a:cs typeface="Times New Roman"/>
              </a:rPr>
              <a:t>A. Chaithanya</a:t>
            </a:r>
            <a:endParaRPr sz="2400" dirty="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Times New Roman"/>
                <a:cs typeface="Times New Roman"/>
              </a:rPr>
              <a:t>Roll No. </a:t>
            </a:r>
            <a:r>
              <a:rPr sz="1100" spc="-10" dirty="0">
                <a:latin typeface="Times New Roman"/>
                <a:cs typeface="Times New Roman"/>
              </a:rPr>
              <a:t>2</a:t>
            </a:r>
            <a:r>
              <a:rPr lang="en-US" sz="1100" spc="-10" dirty="0">
                <a:latin typeface="Times New Roman"/>
                <a:cs typeface="Times New Roman"/>
              </a:rPr>
              <a:t>2</a:t>
            </a:r>
            <a:r>
              <a:rPr sz="1100" spc="-10" dirty="0">
                <a:latin typeface="Times New Roman"/>
                <a:cs typeface="Times New Roman"/>
              </a:rPr>
              <a:t>4G1A05</a:t>
            </a:r>
            <a:r>
              <a:rPr lang="en-US" sz="1100" spc="-10" dirty="0">
                <a:latin typeface="Times New Roman"/>
                <a:cs typeface="Times New Roman"/>
              </a:rPr>
              <a:t>13</a:t>
            </a:r>
            <a:endParaRPr sz="1100" dirty="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15009" y="318271"/>
            <a:ext cx="10608310" cy="937894"/>
            <a:chOff x="715009" y="318271"/>
            <a:chExt cx="10608310" cy="937894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5009" y="318271"/>
              <a:ext cx="10608182" cy="93786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55008" y="335270"/>
              <a:ext cx="10528300" cy="857885"/>
            </a:xfrm>
            <a:custGeom>
              <a:avLst/>
              <a:gdLst/>
              <a:ahLst/>
              <a:cxnLst/>
              <a:rect l="l" t="t" r="r" b="b"/>
              <a:pathLst>
                <a:path w="10528300" h="857885">
                  <a:moveTo>
                    <a:pt x="10385202" y="857863"/>
                  </a:moveTo>
                  <a:lnTo>
                    <a:pt x="142980" y="857863"/>
                  </a:lnTo>
                  <a:lnTo>
                    <a:pt x="97787" y="850574"/>
                  </a:lnTo>
                  <a:lnTo>
                    <a:pt x="58537" y="830277"/>
                  </a:lnTo>
                  <a:lnTo>
                    <a:pt x="27586" y="799326"/>
                  </a:lnTo>
                  <a:lnTo>
                    <a:pt x="7289" y="760076"/>
                  </a:lnTo>
                  <a:lnTo>
                    <a:pt x="0" y="714883"/>
                  </a:lnTo>
                  <a:lnTo>
                    <a:pt x="0" y="142980"/>
                  </a:lnTo>
                  <a:lnTo>
                    <a:pt x="7289" y="97787"/>
                  </a:lnTo>
                  <a:lnTo>
                    <a:pt x="27586" y="58537"/>
                  </a:lnTo>
                  <a:lnTo>
                    <a:pt x="58537" y="27586"/>
                  </a:lnTo>
                  <a:lnTo>
                    <a:pt x="97787" y="7289"/>
                  </a:lnTo>
                  <a:lnTo>
                    <a:pt x="142980" y="0"/>
                  </a:lnTo>
                  <a:lnTo>
                    <a:pt x="10385202" y="0"/>
                  </a:lnTo>
                  <a:lnTo>
                    <a:pt x="10439918" y="10883"/>
                  </a:lnTo>
                  <a:lnTo>
                    <a:pt x="10486304" y="41877"/>
                  </a:lnTo>
                  <a:lnTo>
                    <a:pt x="10517299" y="88264"/>
                  </a:lnTo>
                  <a:lnTo>
                    <a:pt x="10528183" y="142980"/>
                  </a:lnTo>
                  <a:lnTo>
                    <a:pt x="10528183" y="714883"/>
                  </a:lnTo>
                  <a:lnTo>
                    <a:pt x="10520894" y="760076"/>
                  </a:lnTo>
                  <a:lnTo>
                    <a:pt x="10500596" y="799326"/>
                  </a:lnTo>
                  <a:lnTo>
                    <a:pt x="10469645" y="830277"/>
                  </a:lnTo>
                  <a:lnTo>
                    <a:pt x="10430395" y="850574"/>
                  </a:lnTo>
                  <a:lnTo>
                    <a:pt x="10385202" y="857863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908692" y="491407"/>
            <a:ext cx="10374616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dirty="0"/>
              <a:t>                     Green QR: Smart Information System</a:t>
            </a:r>
            <a:endParaRPr sz="3200" dirty="0"/>
          </a:p>
        </p:txBody>
      </p:sp>
      <p:sp>
        <p:nvSpPr>
          <p:cNvPr id="18" name="object 18"/>
          <p:cNvSpPr txBox="1"/>
          <p:nvPr/>
        </p:nvSpPr>
        <p:spPr>
          <a:xfrm>
            <a:off x="5987420" y="1278968"/>
            <a:ext cx="21717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25" dirty="0">
                <a:latin typeface="Times New Roman"/>
                <a:cs typeface="Times New Roman"/>
              </a:rPr>
              <a:t>by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32311" y="3408075"/>
            <a:ext cx="1527378" cy="16854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1" y="-18338"/>
            <a:ext cx="12191761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dirty="0">
                <a:solidFill>
                  <a:schemeClr val="bg1"/>
                </a:solidFill>
              </a:rPr>
              <a:t>                                                                              </a:t>
            </a:r>
            <a:r>
              <a:rPr lang="en-US" sz="1600" b="1" i="1" dirty="0">
                <a:solidFill>
                  <a:schemeClr val="bg1"/>
                </a:solidFill>
              </a:rPr>
              <a:t>Green QR: Smart Information System</a:t>
            </a:r>
            <a:endParaRPr sz="1500" b="1" i="1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2399"/>
            <a:ext cx="12192000" cy="803275"/>
            <a:chOff x="0" y="212399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2399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39" y="22859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Contents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US" spc="-25" dirty="0"/>
              <a:t>15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914400" y="6629559"/>
            <a:ext cx="5478716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39"/>
              </a:lnSpc>
            </a:pPr>
            <a:r>
              <a:rPr lang="en-US" dirty="0"/>
              <a:t>          Department of Computer Science and Engineering</a:t>
            </a:r>
            <a:endParaRPr cap="small" spc="-130" dirty="0"/>
          </a:p>
        </p:txBody>
      </p:sp>
      <p:sp>
        <p:nvSpPr>
          <p:cNvPr id="10" name="object 10"/>
          <p:cNvSpPr txBox="1"/>
          <p:nvPr/>
        </p:nvSpPr>
        <p:spPr>
          <a:xfrm>
            <a:off x="6393116" y="6629197"/>
            <a:ext cx="5189283" cy="228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600" dirty="0">
                <a:solidFill>
                  <a:schemeClr val="bg1"/>
                </a:solidFill>
              </a:rPr>
              <a:t>         Srinivasa Ramanujan Institute of 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US" spc="-25" dirty="0"/>
              <a:t>0</a:t>
            </a:r>
            <a:fld id="{81D60167-4931-47E6-BA6A-407CBD079E47}" type="slidenum">
              <a:rPr spc="-25" smtClean="0"/>
              <a:t>2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325787" y="989990"/>
            <a:ext cx="9460230" cy="462534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421005" indent="-408305">
              <a:lnSpc>
                <a:spcPct val="100000"/>
              </a:lnSpc>
              <a:spcBef>
                <a:spcPts val="760"/>
              </a:spcBef>
              <a:buChar char="•"/>
              <a:tabLst>
                <a:tab pos="421005" algn="l"/>
              </a:tabLst>
            </a:pPr>
            <a:r>
              <a:rPr sz="2800" dirty="0">
                <a:latin typeface="Times New Roman"/>
                <a:cs typeface="Times New Roman"/>
              </a:rPr>
              <a:t>Title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Justification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spc="-10" dirty="0">
                <a:latin typeface="Times New Roman"/>
                <a:cs typeface="Times New Roman"/>
              </a:rPr>
              <a:t>Abstract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dirty="0">
                <a:latin typeface="Times New Roman"/>
                <a:cs typeface="Times New Roman"/>
              </a:rPr>
              <a:t>Problem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statement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dirty="0">
                <a:latin typeface="Times New Roman"/>
                <a:cs typeface="Times New Roman"/>
              </a:rPr>
              <a:t>Objectives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Project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dirty="0">
                <a:latin typeface="Times New Roman"/>
                <a:cs typeface="Times New Roman"/>
              </a:rPr>
              <a:t>Literature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survey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objectives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0"/>
              </a:spcBef>
              <a:buChar char="•"/>
              <a:tabLst>
                <a:tab pos="421005" algn="l"/>
              </a:tabLst>
            </a:pPr>
            <a:r>
              <a:rPr sz="2800" dirty="0">
                <a:latin typeface="Times New Roman"/>
                <a:cs typeface="Times New Roman"/>
              </a:rPr>
              <a:t>Proposed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Work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-</a:t>
            </a:r>
            <a:r>
              <a:rPr sz="2800" dirty="0">
                <a:latin typeface="Times New Roman"/>
                <a:cs typeface="Times New Roman"/>
              </a:rPr>
              <a:t>(Methods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followed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proposed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system)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spc="-10" dirty="0">
                <a:latin typeface="Times New Roman"/>
                <a:cs typeface="Times New Roman"/>
              </a:rPr>
              <a:t>References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dirty="0">
                <a:latin typeface="Times New Roman"/>
                <a:cs typeface="Times New Roman"/>
              </a:rPr>
              <a:t>GitHub </a:t>
            </a:r>
            <a:r>
              <a:rPr sz="2800" spc="-20" dirty="0">
                <a:latin typeface="Times New Roman"/>
                <a:cs typeface="Times New Roman"/>
              </a:rPr>
              <a:t>Link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spc="-10" dirty="0">
                <a:latin typeface="Times New Roman"/>
                <a:cs typeface="Times New Roman"/>
              </a:rPr>
              <a:t>Queries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r>
              <a:rPr lang="en-US" sz="1800" dirty="0">
                <a:solidFill>
                  <a:schemeClr val="bg1"/>
                </a:solidFill>
              </a:rPr>
              <a:t>                                                                    </a:t>
            </a:r>
            <a:r>
              <a:rPr lang="en-US" sz="1800" b="1" i="1" dirty="0">
                <a:solidFill>
                  <a:schemeClr val="bg1"/>
                </a:solidFill>
              </a:rPr>
              <a:t>Green QR: Smart Information System</a:t>
            </a:r>
            <a:endParaRPr b="1" i="1" dirty="0">
              <a:solidFill>
                <a:schemeClr val="bg1"/>
              </a:solidFill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212399"/>
            <a:ext cx="12192000" cy="803275"/>
            <a:chOff x="0" y="212399"/>
            <a:chExt cx="12192000" cy="8032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2399"/>
              <a:ext cx="12192000" cy="8031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39" y="22859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Title</a:t>
            </a:r>
            <a:r>
              <a:rPr lang="en-IN" spc="-110" dirty="0"/>
              <a:t> </a:t>
            </a:r>
            <a:r>
              <a:rPr lang="en-IN" spc="-10" dirty="0"/>
              <a:t>Justification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454EEAF-5360-14AE-1EE9-008D196F1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1" y="1600200"/>
            <a:ext cx="11355114" cy="3754874"/>
          </a:xfrm>
        </p:spPr>
        <p:txBody>
          <a:bodyPr/>
          <a:lstStyle/>
          <a:p>
            <a:r>
              <a:rPr lang="en-US" sz="2400" dirty="0"/>
              <a:t>The title </a:t>
            </a:r>
            <a:r>
              <a:rPr lang="en-US" sz="2400" i="1" dirty="0"/>
              <a:t>“</a:t>
            </a:r>
            <a:r>
              <a:rPr lang="en-US" sz="2400" b="1" i="1" dirty="0"/>
              <a:t>Green QR: Smart Tree Information System</a:t>
            </a:r>
            <a:r>
              <a:rPr lang="en-US" sz="2400" i="1" dirty="0"/>
              <a:t>”</a:t>
            </a:r>
            <a:r>
              <a:rPr lang="en-US" sz="2400" dirty="0"/>
              <a:t> reflects the core idea of the project</a:t>
            </a:r>
            <a:br>
              <a:rPr lang="en-US" sz="2400" dirty="0"/>
            </a:br>
            <a:r>
              <a:rPr lang="en-US" sz="2400" dirty="0"/>
              <a:t>using QR codes to provide verified, structured, and app-secured information about every tree.</a:t>
            </a:r>
          </a:p>
          <a:p>
            <a:endParaRPr lang="en-US" sz="2400" dirty="0"/>
          </a:p>
          <a:p>
            <a:r>
              <a:rPr lang="en-US" sz="2400" dirty="0"/>
              <a:t>It highlights: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Green</a:t>
            </a:r>
            <a:r>
              <a:rPr lang="en-US" sz="2400" dirty="0"/>
              <a:t> → Represents trees, environment, sustainability.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QR</a:t>
            </a:r>
            <a:r>
              <a:rPr lang="en-US" sz="2400" dirty="0"/>
              <a:t> → Technology used to uniquely identify each tree.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Smart Information System</a:t>
            </a:r>
            <a:r>
              <a:rPr lang="en-US" sz="2400" dirty="0"/>
              <a:t> → Indicates the digital, secure, app-based data retrieval method</a:t>
            </a:r>
            <a:r>
              <a:rPr lang="en-US" sz="2000" dirty="0"/>
              <a:t>.</a:t>
            </a:r>
          </a:p>
          <a:p>
            <a:endParaRPr lang="en-IN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US" spc="-25" dirty="0"/>
              <a:t>15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914400" y="6645601"/>
            <a:ext cx="547871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39"/>
              </a:lnSpc>
            </a:pPr>
            <a:r>
              <a:rPr lang="en-US" dirty="0"/>
              <a:t>           Department of Computer Science and Engineering</a:t>
            </a:r>
            <a:endParaRPr cap="small" spc="-130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US" spc="-25" dirty="0"/>
              <a:t>0</a:t>
            </a:r>
            <a:fld id="{81D60167-4931-47E6-BA6A-407CBD079E47}" type="slidenum">
              <a:rPr spc="-25" smtClean="0"/>
              <a:t>3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6393116" y="6629197"/>
            <a:ext cx="5189283" cy="228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600" dirty="0">
                <a:solidFill>
                  <a:schemeClr val="bg1"/>
                </a:solidFill>
              </a:rPr>
              <a:t>          Srinivasa Ramanujan Institute of Technology</a:t>
            </a:r>
            <a:endParaRPr sz="1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-18339"/>
            <a:ext cx="1219200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dirty="0">
                <a:solidFill>
                  <a:schemeClr val="bg1"/>
                </a:solidFill>
              </a:rPr>
              <a:t>                                                                              </a:t>
            </a:r>
            <a:r>
              <a:rPr lang="en-US" sz="1600" b="1" i="1" dirty="0">
                <a:solidFill>
                  <a:schemeClr val="bg1"/>
                </a:solidFill>
              </a:rPr>
              <a:t>Green QR: Smart Information System</a:t>
            </a:r>
            <a:endParaRPr sz="1500" b="1" i="1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0" y="209958"/>
            <a:ext cx="121920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Abstract</a:t>
            </a:r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US" spc="-25" dirty="0"/>
              <a:t>15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914400" y="6629559"/>
            <a:ext cx="5478716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39"/>
              </a:lnSpc>
            </a:pPr>
            <a:r>
              <a:rPr lang="en-US" dirty="0"/>
              <a:t>           Department of Computer Science and Engineering</a:t>
            </a:r>
            <a:endParaRPr cap="small" spc="-130" dirty="0"/>
          </a:p>
        </p:txBody>
      </p:sp>
      <p:sp>
        <p:nvSpPr>
          <p:cNvPr id="10" name="object 10"/>
          <p:cNvSpPr txBox="1"/>
          <p:nvPr/>
        </p:nvSpPr>
        <p:spPr>
          <a:xfrm>
            <a:off x="6393116" y="6629197"/>
            <a:ext cx="5265483" cy="228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600" dirty="0">
                <a:solidFill>
                  <a:schemeClr val="bg1"/>
                </a:solidFill>
              </a:rPr>
              <a:t>           Srinivasa Ramanujan Institute of 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US" spc="-25" dirty="0"/>
              <a:t>0</a:t>
            </a:r>
            <a:fld id="{81D60167-4931-47E6-BA6A-407CBD079E47}" type="slidenum">
              <a:rPr spc="-25" smtClean="0"/>
              <a:t>4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149031" y="989990"/>
            <a:ext cx="11747109" cy="51828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This project addresses the need for better documentation and awareness of trees in public and private spaces.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Each tree is assigned a unique QR code that cannot be accessed by regular scanners.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Only users with the official mobile app can scan the QR code to view detailed information, including the tree’s name, purchaser, uses, advantages, and disadvantages.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By using a mobile application integrated with secure QR codes, the system successfully delivers accurate and structured data to authorized users.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results show improved transparency, environmental awareness, and engagement with tree management.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Green QR system is a practical and scalable solution for eco-friendly tree monitoring and urban forestry initiatives.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-18340"/>
            <a:ext cx="1219200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dirty="0">
                <a:solidFill>
                  <a:schemeClr val="bg1"/>
                </a:solidFill>
              </a:rPr>
              <a:t>                                                                              </a:t>
            </a:r>
            <a:r>
              <a:rPr lang="en-US" sz="1600" b="1" i="1" dirty="0">
                <a:solidFill>
                  <a:schemeClr val="bg1"/>
                </a:solidFill>
              </a:rPr>
              <a:t>Green QR: Smart Information System</a:t>
            </a:r>
            <a:endParaRPr sz="1500" b="1" i="1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185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US" spc="-25" dirty="0"/>
              <a:t>15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914400" y="6629559"/>
            <a:ext cx="5478716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39"/>
              </a:lnSpc>
            </a:pPr>
            <a:r>
              <a:rPr lang="en-US" dirty="0"/>
              <a:t>             Department of Computer Science and Engineering</a:t>
            </a:r>
            <a:endParaRPr cap="small" spc="-130" dirty="0"/>
          </a:p>
        </p:txBody>
      </p:sp>
      <p:sp>
        <p:nvSpPr>
          <p:cNvPr id="10" name="object 10"/>
          <p:cNvSpPr txBox="1"/>
          <p:nvPr/>
        </p:nvSpPr>
        <p:spPr>
          <a:xfrm>
            <a:off x="6393117" y="6641280"/>
            <a:ext cx="5190598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600" dirty="0">
                <a:solidFill>
                  <a:schemeClr val="bg1"/>
                </a:solidFill>
              </a:rPr>
              <a:t>          Srinivasa Ramanujan Institute of 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US" spc="-25" dirty="0"/>
              <a:t>0</a:t>
            </a:r>
            <a:fld id="{81D60167-4931-47E6-BA6A-407CBD079E47}" type="slidenum">
              <a:rPr spc="-25" smtClean="0"/>
              <a:t>5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236899" y="1074318"/>
            <a:ext cx="11346815" cy="3588162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505459" marR="5080" indent="-492759">
              <a:lnSpc>
                <a:spcPts val="3020"/>
              </a:lnSpc>
              <a:spcBef>
                <a:spcPts val="480"/>
              </a:spcBef>
              <a:buFont typeface="Wingdings" panose="05000000000000000000" pitchFamily="2" charset="2"/>
              <a:buChar char="Ø"/>
              <a:tabLst>
                <a:tab pos="505459" algn="l"/>
                <a:tab pos="2227580" algn="l"/>
                <a:tab pos="4404995" algn="l"/>
                <a:tab pos="4942840" algn="l"/>
                <a:tab pos="6308090" algn="l"/>
                <a:tab pos="7319645" algn="l"/>
                <a:tab pos="7838440" algn="l"/>
                <a:tab pos="9808210" algn="l"/>
                <a:tab pos="10503535" algn="l"/>
              </a:tabLst>
            </a:pPr>
            <a:endParaRPr lang="en-US" sz="2400" dirty="0"/>
          </a:p>
          <a:p>
            <a:pPr marL="505459" marR="5080" indent="-492759">
              <a:lnSpc>
                <a:spcPts val="3020"/>
              </a:lnSpc>
              <a:spcBef>
                <a:spcPts val="480"/>
              </a:spcBef>
              <a:buFont typeface="Wingdings" panose="05000000000000000000" pitchFamily="2" charset="2"/>
              <a:buChar char="Ø"/>
              <a:tabLst>
                <a:tab pos="505459" algn="l"/>
                <a:tab pos="2227580" algn="l"/>
                <a:tab pos="4404995" algn="l"/>
                <a:tab pos="4942840" algn="l"/>
                <a:tab pos="6308090" algn="l"/>
                <a:tab pos="7319645" algn="l"/>
                <a:tab pos="7838440" algn="l"/>
                <a:tab pos="9808210" algn="l"/>
                <a:tab pos="10503535" algn="l"/>
              </a:tabLst>
            </a:pPr>
            <a:r>
              <a:rPr lang="en-US" sz="2400" dirty="0"/>
              <a:t>People cannot easily identify tree names, uses, and benefits in public areas or campuses.</a:t>
            </a:r>
            <a:endParaRPr sz="2400" spc="-10" dirty="0"/>
          </a:p>
          <a:p>
            <a:pPr marL="505459" marR="7620" indent="-492759">
              <a:lnSpc>
                <a:spcPts val="3020"/>
              </a:lnSpc>
              <a:buFont typeface="Wingdings" panose="05000000000000000000" pitchFamily="2" charset="2"/>
              <a:buChar char="Ø"/>
              <a:tabLst>
                <a:tab pos="505459" algn="l"/>
              </a:tabLst>
            </a:pPr>
            <a:r>
              <a:rPr lang="en-US" sz="2400" dirty="0"/>
              <a:t>Existing information boards fade, get damaged, or provide very limited information.</a:t>
            </a:r>
          </a:p>
          <a:p>
            <a:pPr marL="505459" marR="7620" indent="-492759">
              <a:lnSpc>
                <a:spcPts val="3020"/>
              </a:lnSpc>
              <a:buFont typeface="Wingdings" panose="05000000000000000000" pitchFamily="2" charset="2"/>
              <a:buChar char="Ø"/>
              <a:tabLst>
                <a:tab pos="505459" algn="l"/>
              </a:tabLst>
            </a:pPr>
            <a:r>
              <a:rPr lang="en-US" sz="2400" dirty="0"/>
              <a:t>Anyone scanning an open QR code can access data, leading to </a:t>
            </a:r>
            <a:r>
              <a:rPr lang="en-US" sz="2400" b="1" dirty="0"/>
              <a:t>security issues</a:t>
            </a:r>
            <a:r>
              <a:rPr lang="en-US" sz="2400" dirty="0"/>
              <a:t> or misuse.</a:t>
            </a:r>
          </a:p>
          <a:p>
            <a:pPr marL="505459" marR="7620" indent="-492759">
              <a:lnSpc>
                <a:spcPts val="3020"/>
              </a:lnSpc>
              <a:buFont typeface="Wingdings" panose="05000000000000000000" pitchFamily="2" charset="2"/>
              <a:buChar char="Ø"/>
              <a:tabLst>
                <a:tab pos="505459" algn="l"/>
              </a:tabLst>
            </a:pPr>
            <a:r>
              <a:rPr lang="en-US" sz="2400" dirty="0"/>
              <a:t>Anyone scanning an open QR code can access data, leading to </a:t>
            </a:r>
            <a:r>
              <a:rPr lang="en-US" sz="2400" b="1" dirty="0"/>
              <a:t>security issues</a:t>
            </a:r>
            <a:r>
              <a:rPr lang="en-US" sz="2400" dirty="0"/>
              <a:t> or misuse.</a:t>
            </a:r>
          </a:p>
          <a:p>
            <a:pPr marL="505459" marR="7620" indent="-492759">
              <a:lnSpc>
                <a:spcPts val="3020"/>
              </a:lnSpc>
              <a:buFont typeface="Wingdings" panose="05000000000000000000" pitchFamily="2" charset="2"/>
              <a:buChar char="Ø"/>
              <a:tabLst>
                <a:tab pos="505459" algn="l"/>
              </a:tabLst>
            </a:pPr>
            <a:r>
              <a:rPr lang="en-US" sz="2400" dirty="0"/>
              <a:t>Manual record-keeping of tree details is time-consuming, inaccurate, and difficult to maintain, especially when the number of trees increases.</a:t>
            </a:r>
            <a:endParaRPr sz="2400" spc="-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1" y="-18339"/>
            <a:ext cx="12191999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dirty="0">
                <a:solidFill>
                  <a:schemeClr val="bg1"/>
                </a:solidFill>
              </a:rPr>
              <a:t>                                                                              </a:t>
            </a:r>
            <a:r>
              <a:rPr lang="en-US" sz="1600" b="1" i="1" dirty="0">
                <a:solidFill>
                  <a:schemeClr val="bg1"/>
                </a:solidFill>
              </a:rPr>
              <a:t>Green QR: Smart Information System</a:t>
            </a:r>
            <a:endParaRPr sz="1500" b="1" i="1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45790" algn="l"/>
              </a:tabLst>
            </a:pPr>
            <a:r>
              <a:rPr dirty="0"/>
              <a:t>Objectives</a:t>
            </a:r>
            <a:r>
              <a:rPr spc="-60" dirty="0"/>
              <a:t> </a:t>
            </a:r>
            <a:r>
              <a:rPr spc="-25" dirty="0"/>
              <a:t>of</a:t>
            </a:r>
            <a:r>
              <a:rPr dirty="0"/>
              <a:t>	</a:t>
            </a:r>
            <a:r>
              <a:rPr spc="-10" dirty="0"/>
              <a:t>Project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US" spc="-25" dirty="0"/>
              <a:t>15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914400" y="6625080"/>
            <a:ext cx="5486400" cy="2353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39"/>
              </a:lnSpc>
            </a:pPr>
            <a:r>
              <a:rPr lang="en-US" dirty="0"/>
              <a:t>             Department of Computer Science and Engineering</a:t>
            </a:r>
            <a:endParaRPr cap="small" spc="-130" dirty="0"/>
          </a:p>
        </p:txBody>
      </p:sp>
      <p:sp>
        <p:nvSpPr>
          <p:cNvPr id="10" name="object 10"/>
          <p:cNvSpPr txBox="1"/>
          <p:nvPr/>
        </p:nvSpPr>
        <p:spPr>
          <a:xfrm>
            <a:off x="6400800" y="6629197"/>
            <a:ext cx="518159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600" dirty="0">
                <a:solidFill>
                  <a:schemeClr val="bg1"/>
                </a:solidFill>
              </a:rPr>
              <a:t>           Srinivasa Ramanujan Institute of 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US" spc="-25" dirty="0"/>
              <a:t>0</a:t>
            </a:r>
            <a:fld id="{81D60167-4931-47E6-BA6A-407CBD079E47}" type="slidenum">
              <a:rPr spc="-25" smtClean="0"/>
              <a:t>6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304799" y="1110318"/>
            <a:ext cx="11586895" cy="33368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/>
              <a:t>Research Objective 1:</a:t>
            </a:r>
          </a:p>
          <a:p>
            <a:r>
              <a:rPr lang="en-US" sz="2400" dirty="0"/>
              <a:t>To implement this secure QR-based tree information system in colleges for effective tree documentation and environmental awareness.</a:t>
            </a:r>
          </a:p>
          <a:p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/>
              <a:t>Research Objective 2:</a:t>
            </a:r>
          </a:p>
          <a:p>
            <a:r>
              <a:rPr lang="en-US" sz="2400" dirty="0"/>
              <a:t>To develop a digital tree identification system that supports eco-friendly management, monitoring, and awareness using modern QR and mobile technologies.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-18339"/>
            <a:ext cx="1219200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dirty="0">
                <a:solidFill>
                  <a:schemeClr val="bg1"/>
                </a:solidFill>
              </a:rPr>
              <a:t>                                                                              </a:t>
            </a:r>
            <a:r>
              <a:rPr lang="en-US" sz="1600" b="1" i="1" dirty="0">
                <a:solidFill>
                  <a:schemeClr val="bg1"/>
                </a:solidFill>
              </a:rPr>
              <a:t>Green QR: Smart Information System</a:t>
            </a:r>
            <a:endParaRPr sz="1500" b="1" i="1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" y="209959"/>
            <a:ext cx="121158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chemeClr val="bg1"/>
                </a:solidFill>
                <a:latin typeface="Times New Roman"/>
                <a:cs typeface="Times New Roman"/>
              </a:rPr>
              <a:t>Literature</a:t>
            </a:r>
            <a:r>
              <a:rPr sz="4400" spc="-3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4400" dirty="0">
                <a:solidFill>
                  <a:schemeClr val="bg1"/>
                </a:solidFill>
                <a:latin typeface="Times New Roman"/>
                <a:cs typeface="Times New Roman"/>
              </a:rPr>
              <a:t>survey</a:t>
            </a:r>
            <a:r>
              <a:rPr sz="4400" spc="-2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4400" dirty="0">
                <a:solidFill>
                  <a:schemeClr val="bg1"/>
                </a:solidFill>
                <a:latin typeface="Times New Roman"/>
                <a:cs typeface="Times New Roman"/>
              </a:rPr>
              <a:t>for</a:t>
            </a:r>
            <a:r>
              <a:rPr sz="4400" spc="-2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4400" spc="-10" dirty="0">
                <a:solidFill>
                  <a:schemeClr val="bg1"/>
                </a:solidFill>
                <a:latin typeface="Times New Roman"/>
                <a:cs typeface="Times New Roman"/>
              </a:rPr>
              <a:t>objectives</a:t>
            </a:r>
            <a:endParaRPr sz="2800" dirty="0">
              <a:latin typeface="Times New Roman"/>
              <a:cs typeface="Times New Roman"/>
            </a:endParaRPr>
          </a:p>
          <a:p>
            <a:pPr marL="176530">
              <a:lnSpc>
                <a:spcPct val="100000"/>
              </a:lnSpc>
            </a:pPr>
            <a:endParaRPr sz="2800" dirty="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US" spc="-25" dirty="0"/>
              <a:t>15</a:t>
            </a:r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914400" y="6629559"/>
            <a:ext cx="5478716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39"/>
              </a:lnSpc>
            </a:pPr>
            <a:r>
              <a:rPr lang="en-US" dirty="0"/>
              <a:t>             Department of Computer Science and Engineering</a:t>
            </a:r>
            <a:endParaRPr cap="small" spc="-13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US" spc="-25" dirty="0"/>
              <a:t>0</a:t>
            </a:r>
            <a:fld id="{81D60167-4931-47E6-BA6A-407CBD079E47}" type="slidenum">
              <a:rPr spc="-25" smtClean="0"/>
              <a:t>7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6393116" y="6629197"/>
            <a:ext cx="5189283" cy="228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600" dirty="0">
                <a:solidFill>
                  <a:schemeClr val="bg1"/>
                </a:solidFill>
              </a:rPr>
              <a:t>          Srinivasa Ramanujan Institute of Technology</a:t>
            </a:r>
            <a:endParaRPr sz="1600" dirty="0">
              <a:latin typeface="Times New Roman"/>
              <a:cs typeface="Times New Roman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D39AC8F-7CBA-E843-5AC1-35EB309EA2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0834598"/>
              </p:ext>
            </p:extLst>
          </p:nvPr>
        </p:nvGraphicFramePr>
        <p:xfrm>
          <a:off x="457197" y="1110494"/>
          <a:ext cx="11336048" cy="50255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8492">
                  <a:extLst>
                    <a:ext uri="{9D8B030D-6E8A-4147-A177-3AD203B41FA5}">
                      <a16:colId xmlns:a16="http://schemas.microsoft.com/office/drawing/2014/main" val="400089697"/>
                    </a:ext>
                  </a:extLst>
                </a:gridCol>
                <a:gridCol w="1952408">
                  <a:extLst>
                    <a:ext uri="{9D8B030D-6E8A-4147-A177-3AD203B41FA5}">
                      <a16:colId xmlns:a16="http://schemas.microsoft.com/office/drawing/2014/main" val="1766768736"/>
                    </a:ext>
                  </a:extLst>
                </a:gridCol>
                <a:gridCol w="1735475">
                  <a:extLst>
                    <a:ext uri="{9D8B030D-6E8A-4147-A177-3AD203B41FA5}">
                      <a16:colId xmlns:a16="http://schemas.microsoft.com/office/drawing/2014/main" val="54133824"/>
                    </a:ext>
                  </a:extLst>
                </a:gridCol>
                <a:gridCol w="2024720">
                  <a:extLst>
                    <a:ext uri="{9D8B030D-6E8A-4147-A177-3AD203B41FA5}">
                      <a16:colId xmlns:a16="http://schemas.microsoft.com/office/drawing/2014/main" val="1045738277"/>
                    </a:ext>
                  </a:extLst>
                </a:gridCol>
                <a:gridCol w="1806081">
                  <a:extLst>
                    <a:ext uri="{9D8B030D-6E8A-4147-A177-3AD203B41FA5}">
                      <a16:colId xmlns:a16="http://schemas.microsoft.com/office/drawing/2014/main" val="3735787330"/>
                    </a:ext>
                  </a:extLst>
                </a:gridCol>
                <a:gridCol w="1619436">
                  <a:extLst>
                    <a:ext uri="{9D8B030D-6E8A-4147-A177-3AD203B41FA5}">
                      <a16:colId xmlns:a16="http://schemas.microsoft.com/office/drawing/2014/main" val="2526691583"/>
                    </a:ext>
                  </a:extLst>
                </a:gridCol>
                <a:gridCol w="1619436">
                  <a:extLst>
                    <a:ext uri="{9D8B030D-6E8A-4147-A177-3AD203B41FA5}">
                      <a16:colId xmlns:a16="http://schemas.microsoft.com/office/drawing/2014/main" val="692126424"/>
                    </a:ext>
                  </a:extLst>
                </a:gridCol>
              </a:tblGrid>
              <a:tr h="684499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Journal Name &amp;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Methodology / Approach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Key Findings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Gaps Identified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0539375"/>
                  </a:ext>
                </a:extLst>
              </a:tr>
              <a:tr h="1198415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QR-Based Botanical Information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Sharma &amp; Gupta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Int. Journal of Computer Applications, </a:t>
                      </a:r>
                      <a:r>
                        <a:rPr lang="en-US" b="1" dirty="0"/>
                        <a:t>2019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QR codes for plant identification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Helped users view plant details quickly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security; open QR access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5199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Digital Tree </a:t>
                      </a:r>
                      <a:r>
                        <a:rPr lang="en-IN" dirty="0" err="1"/>
                        <a:t>Cataloging</a:t>
                      </a:r>
                      <a:r>
                        <a:rPr lang="en-IN" dirty="0"/>
                        <a:t> for Eco-Campuses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Banerjee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Green Tech Research Journal, </a:t>
                      </a:r>
                      <a:r>
                        <a:rPr lang="en-US" b="1" dirty="0"/>
                        <a:t>2020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Digital tree </a:t>
                      </a:r>
                      <a:r>
                        <a:rPr lang="en-IN" dirty="0" err="1"/>
                        <a:t>catalog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Organized tree database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No QR scanning support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0736562"/>
                  </a:ext>
                </a:extLst>
              </a:tr>
              <a:tr h="900747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Secure QR Authentication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Ahmed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IEEE Smart Computing Conference, </a:t>
                      </a:r>
                      <a:r>
                        <a:rPr lang="en-US" b="1" dirty="0"/>
                        <a:t>2021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App-restricted QR scanning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Improved data protection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specific to tree systems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541535"/>
                  </a:ext>
                </a:extLst>
              </a:tr>
              <a:tr h="1039555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Mobile-Based Plant Information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Velmurugan &amp; Priya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Journal of Mobile Computing, </a:t>
                      </a:r>
                      <a:r>
                        <a:rPr lang="en-US" b="1" dirty="0"/>
                        <a:t>2022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Mobile plant info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Easy access to plant data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QR not restricted; open access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3902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1" y="-18340"/>
            <a:ext cx="12191999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dirty="0">
                <a:solidFill>
                  <a:schemeClr val="bg1"/>
                </a:solidFill>
              </a:rPr>
              <a:t>                                                                              </a:t>
            </a:r>
            <a:r>
              <a:rPr lang="en-US" sz="1600" b="1" i="1" dirty="0">
                <a:solidFill>
                  <a:schemeClr val="bg1"/>
                </a:solidFill>
              </a:rPr>
              <a:t>Green QR: Smart Information System</a:t>
            </a:r>
            <a:endParaRPr sz="1500" b="1" i="1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4800" y="1019880"/>
            <a:ext cx="11488446" cy="445808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469900" marR="5080" indent="-457200" algn="just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Char char="•"/>
              <a:tabLst>
                <a:tab pos="505459" algn="l"/>
              </a:tabLst>
            </a:pPr>
            <a:endParaRPr lang="en-US" sz="2400" dirty="0"/>
          </a:p>
          <a:p>
            <a:pPr marL="469900" marR="5080" indent="-457200" algn="just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Char char="•"/>
              <a:tabLst>
                <a:tab pos="505459" algn="l"/>
              </a:tabLst>
            </a:pPr>
            <a:r>
              <a:rPr lang="en-US" sz="2400" dirty="0"/>
              <a:t>Our project provides a secure and app-restricted tree information system.</a:t>
            </a:r>
          </a:p>
          <a:p>
            <a:pPr marL="469900" marR="5080" indent="-457200" algn="just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Char char="•"/>
              <a:tabLst>
                <a:tab pos="505459" algn="l"/>
              </a:tabLst>
            </a:pPr>
            <a:r>
              <a:rPr lang="en-US" sz="2400" dirty="0"/>
              <a:t>Each tree gets a unique QR code, but the data can be viewed only through our mobile application, ensuring privacy and controlled access.</a:t>
            </a:r>
          </a:p>
          <a:p>
            <a:pPr marL="469900" marR="5080" indent="-457200" algn="just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Char char="•"/>
              <a:tabLst>
                <a:tab pos="505459" algn="l"/>
              </a:tabLst>
            </a:pPr>
            <a:r>
              <a:rPr lang="en-US" sz="2400" b="1" dirty="0"/>
              <a:t>We use a closed QR ecosystem, where:</a:t>
            </a:r>
          </a:p>
          <a:p>
            <a:r>
              <a:rPr lang="en-US" sz="2400" dirty="0"/>
              <a:t>                   If the QR is scanned from any other QR app → No information is shown</a:t>
            </a:r>
          </a:p>
          <a:p>
            <a:r>
              <a:rPr lang="en-US" sz="2400" dirty="0"/>
              <a:t>                   If scanned inside our app → Complete tree details are displayed</a:t>
            </a:r>
          </a:p>
          <a:p>
            <a:r>
              <a:rPr lang="en-US" sz="2400" b="1" dirty="0"/>
              <a:t>Example: </a:t>
            </a:r>
            <a:r>
              <a:rPr lang="en-US" sz="2400" dirty="0"/>
              <a:t>In a college, when a student scans the tree’s QR code using our app, they can see the tree details. But if someone scans it with a normal QR scanner, nothing will open. </a:t>
            </a:r>
          </a:p>
          <a:p>
            <a:pPr marL="12700" marR="5080" algn="just">
              <a:lnSpc>
                <a:spcPts val="3020"/>
              </a:lnSpc>
              <a:spcBef>
                <a:spcPts val="480"/>
              </a:spcBef>
              <a:tabLst>
                <a:tab pos="505459" algn="l"/>
              </a:tabLst>
            </a:pPr>
            <a:endParaRPr sz="24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025" y="182323"/>
            <a:ext cx="388810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32025" algn="l"/>
              </a:tabLst>
            </a:pPr>
            <a:r>
              <a:rPr spc="-10" dirty="0"/>
              <a:t>Proposed</a:t>
            </a:r>
            <a:r>
              <a:rPr dirty="0"/>
              <a:t>	</a:t>
            </a:r>
            <a:r>
              <a:rPr spc="-10" dirty="0"/>
              <a:t>System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US" spc="-25" dirty="0"/>
              <a:t>15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914400" y="6628182"/>
            <a:ext cx="5478716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39"/>
              </a:lnSpc>
            </a:pPr>
            <a:r>
              <a:rPr lang="en-US" dirty="0"/>
              <a:t>               Department of Computer Science and Engineering</a:t>
            </a:r>
            <a:endParaRPr cap="small" spc="-130" dirty="0"/>
          </a:p>
        </p:txBody>
      </p:sp>
      <p:sp>
        <p:nvSpPr>
          <p:cNvPr id="10" name="object 10"/>
          <p:cNvSpPr txBox="1"/>
          <p:nvPr/>
        </p:nvSpPr>
        <p:spPr>
          <a:xfrm>
            <a:off x="6393116" y="6629197"/>
            <a:ext cx="5189283" cy="228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600" dirty="0">
                <a:solidFill>
                  <a:schemeClr val="bg1"/>
                </a:solidFill>
              </a:rPr>
              <a:t>           Srinivasa Ramanujan Institute of 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US" spc="-25" dirty="0"/>
              <a:t>0</a:t>
            </a:r>
            <a:fld id="{81D60167-4931-47E6-BA6A-407CBD079E47}" type="slidenum">
              <a:rPr spc="-25" smtClean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-18339"/>
            <a:ext cx="1219200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dirty="0">
                <a:solidFill>
                  <a:schemeClr val="bg1"/>
                </a:solidFill>
              </a:rPr>
              <a:t>                                                                              </a:t>
            </a:r>
            <a:r>
              <a:rPr lang="en-US" sz="1600" b="1" i="1" dirty="0">
                <a:solidFill>
                  <a:schemeClr val="bg1"/>
                </a:solidFill>
              </a:rPr>
              <a:t>Green QR: Smart Information System</a:t>
            </a:r>
            <a:endParaRPr sz="1500" b="1" i="1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US" spc="-25" dirty="0"/>
              <a:t>15</a:t>
            </a:r>
            <a:endParaRPr spc="-25" dirty="0"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xfrm>
            <a:off x="914400" y="6629559"/>
            <a:ext cx="5478716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39"/>
              </a:lnSpc>
            </a:pPr>
            <a:r>
              <a:rPr lang="en-US" dirty="0"/>
              <a:t>             Department of Computer Science and Engineering</a:t>
            </a:r>
            <a:endParaRPr cap="small" spc="-130" dirty="0"/>
          </a:p>
        </p:txBody>
      </p:sp>
      <p:sp>
        <p:nvSpPr>
          <p:cNvPr id="11" name="object 11"/>
          <p:cNvSpPr txBox="1"/>
          <p:nvPr/>
        </p:nvSpPr>
        <p:spPr>
          <a:xfrm>
            <a:off x="6393116" y="6629197"/>
            <a:ext cx="5189283" cy="228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600" dirty="0">
                <a:solidFill>
                  <a:schemeClr val="bg1"/>
                </a:solidFill>
              </a:rPr>
              <a:t>           Srinivasa Ramanujan Institute of 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US" spc="-25" dirty="0"/>
              <a:t>0</a:t>
            </a:r>
            <a:fld id="{81D60167-4931-47E6-BA6A-407CBD079E47}" type="slidenum">
              <a:rPr spc="-25" smtClean="0"/>
              <a:t>9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272465" y="1074318"/>
            <a:ext cx="11630025" cy="3834383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endParaRPr lang="en-IN" sz="2400" dirty="0"/>
          </a:p>
          <a:p>
            <a:r>
              <a:rPr lang="en-IN" sz="2400" b="1" dirty="0"/>
              <a:t>[1] Sharma, R., &amp; Gupta, P. (2019). </a:t>
            </a:r>
            <a:r>
              <a:rPr lang="en-IN" sz="2400" i="1" dirty="0"/>
              <a:t>QR-Based Botanical Information System</a:t>
            </a:r>
            <a:r>
              <a:rPr lang="en-IN" sz="2400" dirty="0"/>
              <a:t>. International Journal of Computer Applications, 12(4), 45–49.</a:t>
            </a:r>
          </a:p>
          <a:p>
            <a:endParaRPr lang="en-IN" sz="2400" dirty="0"/>
          </a:p>
          <a:p>
            <a:r>
              <a:rPr lang="en-IN" sz="2400" b="1" dirty="0"/>
              <a:t>[2] Ahmed, T. (2021). </a:t>
            </a:r>
            <a:r>
              <a:rPr lang="en-IN" sz="2400" i="1" dirty="0"/>
              <a:t>Secure QR Authentication Framework</a:t>
            </a:r>
            <a:r>
              <a:rPr lang="en-IN" sz="2400" dirty="0"/>
              <a:t>. IEEE Smart Computing Conference, pp. 1–4.</a:t>
            </a:r>
          </a:p>
          <a:p>
            <a:endParaRPr lang="en-IN" sz="2400" dirty="0"/>
          </a:p>
          <a:p>
            <a:r>
              <a:rPr lang="en-IN" sz="2400" b="1" dirty="0"/>
              <a:t>[3] Banerjee, S., Rao, K., &amp; Mehta, A. (2020). </a:t>
            </a:r>
            <a:r>
              <a:rPr lang="en-IN" sz="2400" i="1" dirty="0"/>
              <a:t>Digital Tree </a:t>
            </a:r>
            <a:r>
              <a:rPr lang="en-IN" sz="2400" i="1" dirty="0" err="1"/>
              <a:t>Cataloging</a:t>
            </a:r>
            <a:r>
              <a:rPr lang="en-IN" sz="2400" i="1" dirty="0"/>
              <a:t> for Educational Campuses</a:t>
            </a:r>
            <a:r>
              <a:rPr lang="en-IN" sz="2400" dirty="0"/>
              <a:t>. Green Technology Research Journal, 8(2), 33–40.</a:t>
            </a:r>
          </a:p>
          <a:p>
            <a:pPr marL="590550" marR="5080" indent="-577850" algn="just">
              <a:lnSpc>
                <a:spcPts val="3020"/>
              </a:lnSpc>
              <a:spcBef>
                <a:spcPts val="480"/>
              </a:spcBef>
            </a:pP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-1" y="-18339"/>
            <a:ext cx="12191999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dirty="0">
                <a:solidFill>
                  <a:schemeClr val="bg1"/>
                </a:solidFill>
              </a:rPr>
              <a:t>                                                                              </a:t>
            </a:r>
            <a:r>
              <a:rPr lang="en-US" sz="1600" b="1" i="1" dirty="0">
                <a:solidFill>
                  <a:schemeClr val="bg1"/>
                </a:solidFill>
              </a:rPr>
              <a:t>Green QR: Smart Information System</a:t>
            </a:r>
            <a:endParaRPr sz="1500" b="1" i="1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3025" y="182323"/>
            <a:ext cx="81362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66595" algn="l"/>
                <a:tab pos="5348605" algn="l"/>
                <a:tab pos="6511925" algn="l"/>
              </a:tabLst>
            </a:pPr>
            <a:r>
              <a:rPr dirty="0"/>
              <a:t>Git</a:t>
            </a:r>
            <a:r>
              <a:rPr spc="-75" dirty="0"/>
              <a:t> </a:t>
            </a:r>
            <a:r>
              <a:rPr spc="-25" dirty="0"/>
              <a:t>Hub</a:t>
            </a:r>
            <a:r>
              <a:rPr dirty="0"/>
              <a:t>	Dashboards</a:t>
            </a:r>
            <a:r>
              <a:rPr spc="-60" dirty="0"/>
              <a:t> </a:t>
            </a:r>
            <a:r>
              <a:rPr spc="-25" dirty="0"/>
              <a:t>of</a:t>
            </a:r>
            <a:r>
              <a:rPr dirty="0"/>
              <a:t>	</a:t>
            </a:r>
            <a:r>
              <a:rPr spc="-20" dirty="0"/>
              <a:t>each</a:t>
            </a:r>
            <a:r>
              <a:rPr dirty="0"/>
              <a:t>	</a:t>
            </a:r>
            <a:r>
              <a:rPr spc="-10" dirty="0"/>
              <a:t>student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US" spc="-25" dirty="0"/>
              <a:t>15</a:t>
            </a:r>
            <a:endParaRPr spc="-25" dirty="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911224" y="6629559"/>
            <a:ext cx="5481891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39"/>
              </a:lnSpc>
            </a:pPr>
            <a:r>
              <a:rPr lang="en-US" dirty="0"/>
              <a:t>            Department of Computer Science and Engineering</a:t>
            </a:r>
            <a:endParaRPr cap="small" spc="-130" dirty="0"/>
          </a:p>
        </p:txBody>
      </p:sp>
      <p:sp>
        <p:nvSpPr>
          <p:cNvPr id="12" name="object 12"/>
          <p:cNvSpPr txBox="1"/>
          <p:nvPr/>
        </p:nvSpPr>
        <p:spPr>
          <a:xfrm>
            <a:off x="6393115" y="6629197"/>
            <a:ext cx="5189285" cy="228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600" dirty="0">
                <a:solidFill>
                  <a:schemeClr val="bg1"/>
                </a:solidFill>
              </a:rPr>
              <a:t>          Srinivasa Ramanujan Institute of 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911224" y="6010633"/>
            <a:ext cx="8537576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dirty="0" err="1">
                <a:latin typeface="Arial MT"/>
                <a:cs typeface="Arial MT"/>
              </a:rPr>
              <a:t>Github</a:t>
            </a:r>
            <a:r>
              <a:rPr lang="en-IN" sz="1800" dirty="0">
                <a:latin typeface="Arial MT"/>
                <a:cs typeface="Arial MT"/>
              </a:rPr>
              <a:t> Link: </a:t>
            </a:r>
            <a:r>
              <a:rPr lang="en-IN"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https://github.com/agraharamchaithanya/CSE-2025-26-Batch-A15</a:t>
            </a:r>
            <a:endParaRPr sz="1800" dirty="0">
              <a:latin typeface="Arial MT"/>
              <a:cs typeface="Arial MT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5C4FB52-8191-0BF2-8357-EFFABDCC4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555" y="1142460"/>
            <a:ext cx="9176080" cy="457307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0" y="-18339"/>
            <a:ext cx="1219200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dirty="0">
                <a:solidFill>
                  <a:schemeClr val="bg1"/>
                </a:solidFill>
              </a:rPr>
              <a:t>                                                                              </a:t>
            </a:r>
            <a:r>
              <a:rPr lang="en-US" sz="1600" b="1" i="1" dirty="0">
                <a:solidFill>
                  <a:schemeClr val="bg1"/>
                </a:solidFill>
              </a:rPr>
              <a:t>Green QR: Smart Information System</a:t>
            </a:r>
            <a:endParaRPr sz="1500" b="1" i="1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US" spc="-25" dirty="0"/>
              <a:t>15</a:t>
            </a:r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914400" y="6629559"/>
            <a:ext cx="5478716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39"/>
              </a:lnSpc>
            </a:pPr>
            <a:r>
              <a:rPr lang="en-US" dirty="0"/>
              <a:t>            Department of Computer Science and Engineering</a:t>
            </a:r>
            <a:endParaRPr cap="small" spc="-130" dirty="0"/>
          </a:p>
        </p:txBody>
      </p:sp>
      <p:sp>
        <p:nvSpPr>
          <p:cNvPr id="7" name="object 7"/>
          <p:cNvSpPr txBox="1"/>
          <p:nvPr/>
        </p:nvSpPr>
        <p:spPr>
          <a:xfrm>
            <a:off x="6393116" y="6629197"/>
            <a:ext cx="5265483" cy="228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600" dirty="0">
                <a:solidFill>
                  <a:schemeClr val="bg1"/>
                </a:solidFill>
              </a:rPr>
              <a:t>         Srinivasa Ramanujan Institute of 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05705" y="2352272"/>
            <a:ext cx="669226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i="1" dirty="0">
                <a:solidFill>
                  <a:srgbClr val="FF6600"/>
                </a:solidFill>
                <a:latin typeface="Times New Roman"/>
                <a:cs typeface="Times New Roman"/>
              </a:rPr>
              <a:t>Any</a:t>
            </a:r>
            <a:r>
              <a:rPr sz="9600" i="1" spc="-3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9600" i="1" spc="-10" dirty="0">
                <a:solidFill>
                  <a:srgbClr val="FF6600"/>
                </a:solidFill>
                <a:latin typeface="Times New Roman"/>
                <a:cs typeface="Times New Roman"/>
              </a:rPr>
              <a:t>Queries?</a:t>
            </a:r>
            <a:endParaRPr sz="9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373</TotalTime>
  <Words>1085</Words>
  <Application>Microsoft Office PowerPoint</Application>
  <PresentationFormat>Widescreen</PresentationFormat>
  <Paragraphs>164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Arial MT</vt:lpstr>
      <vt:lpstr>Calibri</vt:lpstr>
      <vt:lpstr>Lucida Sans Unicode</vt:lpstr>
      <vt:lpstr>Times New Roman</vt:lpstr>
      <vt:lpstr>Wingdings</vt:lpstr>
      <vt:lpstr>Office Theme</vt:lpstr>
      <vt:lpstr>                     Green QR: Smart Information System</vt:lpstr>
      <vt:lpstr>Contents</vt:lpstr>
      <vt:lpstr>Title Justification</vt:lpstr>
      <vt:lpstr>Abstract</vt:lpstr>
      <vt:lpstr>Problem Statement</vt:lpstr>
      <vt:lpstr>Objectives of Project</vt:lpstr>
      <vt:lpstr>PowerPoint Presentation</vt:lpstr>
      <vt:lpstr>Proposed System</vt:lpstr>
      <vt:lpstr>References</vt:lpstr>
      <vt:lpstr>Git Hub Dashboards of each student</vt:lpstr>
      <vt:lpstr>Any Queries?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Chaithanya</dc:creator>
  <cp:lastModifiedBy>Chaithanya Reddy</cp:lastModifiedBy>
  <cp:revision>8</cp:revision>
  <dcterms:created xsi:type="dcterms:W3CDTF">2025-12-02T11:29:58Z</dcterms:created>
  <dcterms:modified xsi:type="dcterms:W3CDTF">2025-12-11T09:06:12Z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2025-12-02T00:00:00Z</vt:filetime>
  </property>
  <property fmtid="{D5CDD505-2E9C-101B-9397-08002B2CF9AE}" pid="3" name="Creator">
    <vt:lpwstr>Google</vt:lpwstr>
  </property>
  <property fmtid="{D5CDD505-2E9C-101B-9397-08002B2CF9AE}" pid="4" name="LastSaved">
    <vt:filetime>2025-12-02T00:00:00Z</vt:filetime>
  </property>
</Properties>
</file>