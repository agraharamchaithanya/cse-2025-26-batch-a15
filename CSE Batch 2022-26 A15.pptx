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5"/>
  </p:notesMasterIdLst>
  <p:sldIdLst>
    <p:sldId id="256" r:id="rId2"/>
    <p:sldId id="284" r:id="rId3"/>
    <p:sldId id="257" r:id="rId4"/>
    <p:sldId id="258" r:id="rId5"/>
    <p:sldId id="259" r:id="rId6"/>
    <p:sldId id="260" r:id="rId7"/>
    <p:sldId id="264" r:id="rId8"/>
    <p:sldId id="265" r:id="rId9"/>
    <p:sldId id="276" r:id="rId10"/>
    <p:sldId id="289" r:id="rId11"/>
    <p:sldId id="286" r:id="rId12"/>
    <p:sldId id="288" r:id="rId13"/>
    <p:sldId id="285" r:id="rId14"/>
    <p:sldId id="267" r:id="rId15"/>
    <p:sldId id="278" r:id="rId16"/>
    <p:sldId id="279" r:id="rId17"/>
    <p:sldId id="280" r:id="rId18"/>
    <p:sldId id="281" r:id="rId19"/>
    <p:sldId id="282" r:id="rId20"/>
    <p:sldId id="268" r:id="rId21"/>
    <p:sldId id="271" r:id="rId22"/>
    <p:sldId id="270" r:id="rId23"/>
    <p:sldId id="273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F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10"/>
      </p:cViewPr>
      <p:guideLst>
        <p:guide orient="horz" pos="2160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 i="1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  <a:defRPr sz="4400" b="0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  <a:defRPr/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/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Char char="o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777239" y="6642828"/>
            <a:ext cx="5654039" cy="215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  <a:endParaRPr sz="1600" b="0" i="0" u="none" strike="noStrike" cap="small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31278" y="6641866"/>
            <a:ext cx="5322917" cy="216133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Srinivasa Ramanujan Institute of Technology</a:t>
            </a: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1754196" y="6641865"/>
            <a:ext cx="437803" cy="2161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 dirty="0">
              <a:solidFill>
                <a:schemeClr val="bg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-1" y="0"/>
            <a:ext cx="12191999" cy="23275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Green QR : Smart Tree Information System </a:t>
            </a:r>
            <a:endParaRPr sz="1500" b="1" i="1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506200" y="595606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0" y="6642735"/>
            <a:ext cx="1159510" cy="215265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A15</a:t>
            </a:r>
            <a:endParaRPr sz="1600" b="0" i="0" u="none" strike="noStrike" cap="small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Char char="o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/>
          <p:nvPr/>
        </p:nvSpPr>
        <p:spPr>
          <a:xfrm>
            <a:off x="4758813" y="1783000"/>
            <a:ext cx="2625213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Shantha Vardhan</a:t>
            </a:r>
            <a:endParaRPr lang="en-US" sz="6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2800" b="0" dirty="0"/>
              <a:t>Roll No. 224G1A0597</a:t>
            </a:r>
          </a:p>
        </p:txBody>
      </p:sp>
      <p:sp>
        <p:nvSpPr>
          <p:cNvPr id="2" name="Subtitle 11"/>
          <p:cNvSpPr txBox="1"/>
          <p:nvPr/>
        </p:nvSpPr>
        <p:spPr>
          <a:xfrm>
            <a:off x="3759654" y="2475580"/>
            <a:ext cx="4672674" cy="898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400" b="0" i="1" dirty="0"/>
              <a:t>Under the guidance of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P. Veera Prakash , </a:t>
            </a:r>
            <a:r>
              <a:rPr lang="en-IN" sz="1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M.Tech</a:t>
            </a:r>
            <a:r>
              <a:rPr lang="en-IN" sz="1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IN" sz="1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Ph.D</a:t>
            </a:r>
            <a:endParaRPr lang="en-IN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  <a:endParaRPr lang="en-IN" sz="1400" b="0" dirty="0"/>
          </a:p>
        </p:txBody>
      </p:sp>
      <p:sp>
        <p:nvSpPr>
          <p:cNvPr id="3" name="Subtitle 11"/>
          <p:cNvSpPr txBox="1"/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3400" dirty="0">
                <a:effectLst/>
                <a:ea typeface="Times New Roman" panose="02020603050405020304" pitchFamily="18" charset="0"/>
              </a:rPr>
              <a:t>Autonomous</a:t>
            </a:r>
            <a:endParaRPr lang="en-US" sz="3400" b="0" dirty="0"/>
          </a:p>
          <a:p>
            <a:pPr>
              <a:spcBef>
                <a:spcPts val="300"/>
              </a:spcBef>
            </a:pPr>
            <a:r>
              <a:rPr lang="en-US" sz="2770" dirty="0" err="1"/>
              <a:t>Rotarypuram</a:t>
            </a:r>
            <a:r>
              <a:rPr lang="en-US" sz="2770" dirty="0"/>
              <a:t> Village, B K </a:t>
            </a:r>
            <a:r>
              <a:rPr lang="en-US" sz="2770" dirty="0" err="1"/>
              <a:t>Samudram</a:t>
            </a:r>
            <a:r>
              <a:rPr lang="en-US" sz="2770" dirty="0"/>
              <a:t> Mandal, </a:t>
            </a:r>
            <a:r>
              <a:rPr lang="en-US" sz="2770" dirty="0" err="1"/>
              <a:t>Ananthapuramu</a:t>
            </a:r>
            <a:r>
              <a:rPr lang="en-US" sz="2770" dirty="0"/>
              <a:t> – 515701.</a:t>
            </a:r>
          </a:p>
          <a:p>
            <a:pPr>
              <a:spcBef>
                <a:spcPts val="300"/>
              </a:spcBef>
            </a:pPr>
            <a:r>
              <a:rPr lang="en-IN" altLang="en-US" sz="2770" dirty="0"/>
              <a:t>Accredited by NBA &amp; NAAC with “A” Grade,Affiliated to JNTUA,Ananthapuramu</a:t>
            </a:r>
            <a:endParaRPr lang="en-US" sz="2770" dirty="0"/>
          </a:p>
          <a:p>
            <a:pPr>
              <a:spcAft>
                <a:spcPts val="100"/>
              </a:spcAft>
            </a:pPr>
            <a:r>
              <a:rPr lang="en-US" sz="2770" dirty="0">
                <a:solidFill>
                  <a:schemeClr val="accent1">
                    <a:lumMod val="50000"/>
                  </a:schemeClr>
                </a:solidFill>
              </a:rPr>
              <a:t>202</a:t>
            </a:r>
            <a:r>
              <a:rPr lang="en-IN" altLang="en-US" sz="2770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en-US" sz="2770" dirty="0">
                <a:solidFill>
                  <a:schemeClr val="accent1">
                    <a:lumMod val="50000"/>
                  </a:schemeClr>
                </a:solidFill>
              </a:rPr>
              <a:t>-202</a:t>
            </a:r>
            <a:r>
              <a:rPr lang="en-IN" altLang="en-US" sz="2770" dirty="0">
                <a:solidFill>
                  <a:schemeClr val="accent1">
                    <a:lumMod val="50000"/>
                  </a:schemeClr>
                </a:solidFill>
              </a:rPr>
              <a:t>6</a:t>
            </a:r>
            <a:endParaRPr lang="en-US" sz="2770" b="0" dirty="0"/>
          </a:p>
          <a:p>
            <a:endParaRPr lang="en-IN" sz="2770" b="0" dirty="0"/>
          </a:p>
        </p:txBody>
      </p:sp>
      <p:sp>
        <p:nvSpPr>
          <p:cNvPr id="8" name="Subtitle 11"/>
          <p:cNvSpPr txBox="1"/>
          <p:nvPr/>
        </p:nvSpPr>
        <p:spPr>
          <a:xfrm>
            <a:off x="3574384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endParaRPr lang="en-US" sz="1200" b="0" dirty="0"/>
          </a:p>
        </p:txBody>
      </p:sp>
      <p:sp>
        <p:nvSpPr>
          <p:cNvPr id="9" name="Subtitle 11"/>
          <p:cNvSpPr txBox="1"/>
          <p:nvPr/>
        </p:nvSpPr>
        <p:spPr>
          <a:xfrm>
            <a:off x="8340232" y="1783000"/>
            <a:ext cx="2660290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9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 Likith Kumar</a:t>
            </a:r>
            <a:endParaRPr lang="en-US" sz="9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2800" b="0" dirty="0"/>
              <a:t>Roll No. </a:t>
            </a:r>
            <a:r>
              <a:rPr lang="en-US" sz="3400" b="0" dirty="0"/>
              <a:t>224G1A0542</a:t>
            </a:r>
          </a:p>
        </p:txBody>
      </p:sp>
      <p:sp>
        <p:nvSpPr>
          <p:cNvPr id="10" name="Subtitle 11"/>
          <p:cNvSpPr txBox="1"/>
          <p:nvPr/>
        </p:nvSpPr>
        <p:spPr>
          <a:xfrm>
            <a:off x="1191460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Chaithanya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224G1A0513</a:t>
            </a:r>
          </a:p>
        </p:txBody>
      </p:sp>
      <p:sp>
        <p:nvSpPr>
          <p:cNvPr id="11" name="Rectangle: Rounded Corners 16"/>
          <p:cNvSpPr/>
          <p:nvPr/>
        </p:nvSpPr>
        <p:spPr>
          <a:xfrm>
            <a:off x="755009" y="335271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GREEN QR: SMART TREE INFORMATION SYSTEM </a:t>
            </a:r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7"/>
          <p:cNvSpPr/>
          <p:nvPr/>
        </p:nvSpPr>
        <p:spPr>
          <a:xfrm>
            <a:off x="2714840" y="1261696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2301" y="3477046"/>
            <a:ext cx="1527379" cy="16854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BD47-1CE0-6BA8-445E-3A010589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From Review 0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C2F07-8FE4-52FF-1FC8-35EF7EC88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main objective of your project?</a:t>
            </a:r>
          </a:p>
          <a:p>
            <a:r>
              <a:rPr lang="en-US" dirty="0"/>
              <a:t>Why did you choose QR code?</a:t>
            </a:r>
          </a:p>
          <a:p>
            <a:r>
              <a:rPr lang="en-US" dirty="0"/>
              <a:t>Is this a web application or mobile application?</a:t>
            </a:r>
          </a:p>
          <a:p>
            <a:r>
              <a:rPr lang="en-US" dirty="0"/>
              <a:t>Is this an </a:t>
            </a:r>
            <a:r>
              <a:rPr lang="en-US" dirty="0" err="1"/>
              <a:t>iot</a:t>
            </a:r>
            <a:r>
              <a:rPr lang="en-US" dirty="0"/>
              <a:t> project?</a:t>
            </a:r>
          </a:p>
          <a:p>
            <a:r>
              <a:rPr lang="en-US" dirty="0"/>
              <a:t>What is QR code?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5490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 dirty="0">
                <a:sym typeface="+mn-ea"/>
              </a:rPr>
              <a:t>Title </a:t>
            </a:r>
            <a:r>
              <a:rPr lang="en-US" dirty="0" err="1">
                <a:sym typeface="+mn-ea"/>
              </a:rPr>
              <a:t>Explaination</a:t>
            </a:r>
            <a:endParaRPr lang="en-US" dirty="0"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99505" y="1681315"/>
            <a:ext cx="11779135" cy="3736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400"/>
              <a:buNone/>
            </a:pPr>
            <a:r>
              <a:rPr lang="en-US" sz="2400" dirty="0"/>
              <a:t>The title </a:t>
            </a:r>
            <a:r>
              <a:rPr lang="en-US" sz="2400" i="1" dirty="0"/>
              <a:t>“</a:t>
            </a:r>
            <a:r>
              <a:rPr lang="en-US" sz="2400" b="1" i="1" dirty="0"/>
              <a:t>Green QR: Smart Tree Information System</a:t>
            </a:r>
            <a:r>
              <a:rPr lang="en-US" sz="2400" i="1" dirty="0"/>
              <a:t>”</a:t>
            </a:r>
            <a:r>
              <a:rPr lang="en-US" sz="2400" dirty="0"/>
              <a:t> reflects the core idea of the project</a:t>
            </a:r>
            <a:br>
              <a:rPr lang="en-US" sz="2400" dirty="0"/>
            </a:br>
            <a:r>
              <a:rPr lang="en-US" sz="2400" dirty="0"/>
              <a:t>using QR codes to provide verified, structured, and app-secured information about every tree.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SzPts val="2400"/>
              <a:buNone/>
            </a:pPr>
            <a:r>
              <a:rPr lang="en-US" sz="2400" dirty="0"/>
              <a:t>It highlights: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Green</a:t>
            </a:r>
            <a:r>
              <a:rPr lang="en-US" sz="2400" dirty="0"/>
              <a:t> → Represents trees, environment, sustainability.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QR</a:t>
            </a:r>
            <a:r>
              <a:rPr lang="en-US" sz="2400" dirty="0"/>
              <a:t> → Technology used to uniquely identify each tree.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Smart Information System</a:t>
            </a:r>
            <a:r>
              <a:rPr lang="en-US" sz="2400" dirty="0"/>
              <a:t> → Indicates the digital, secure, app-based data retrieval method</a:t>
            </a:r>
            <a:r>
              <a:rPr lang="en-US" sz="2000" dirty="0"/>
              <a:t>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/>
          </a:p>
        </p:txBody>
      </p:sp>
      <p:sp>
        <p:nvSpPr>
          <p:cNvPr id="2" name="Text Box 1"/>
          <p:cNvSpPr txBox="1"/>
          <p:nvPr/>
        </p:nvSpPr>
        <p:spPr>
          <a:xfrm>
            <a:off x="5078095" y="11493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/>
              <a:t>Contents</a:t>
            </a:r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2280" lvl="0" indent="-46228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Abstract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Introduction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Software Requirements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Datasets/Modules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Implementation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Outputs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Conclusion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References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>
                <a:sym typeface="+mn-ea"/>
              </a:rPr>
              <a:t>Abstract</a:t>
            </a:r>
            <a:endParaRPr lang="en-US"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 indent="-457200">
              <a:buFont typeface="Wingdings" panose="05000000000000000000" pitchFamily="2" charset="2"/>
              <a:buChar char="ü"/>
            </a:pPr>
            <a:r>
              <a:rPr lang="en-US" sz="2400" dirty="0"/>
              <a:t>The Green QR Smart Tree Information System aims to promote environmental awareness by providing digital information about trees using QR code technology.</a:t>
            </a:r>
          </a:p>
          <a:p>
            <a:pPr lvl="0" indent="-457200">
              <a:buFont typeface="Wingdings" panose="05000000000000000000" pitchFamily="2" charset="2"/>
              <a:buChar char="ü"/>
            </a:pPr>
            <a:endParaRPr lang="en-US" sz="2400" dirty="0"/>
          </a:p>
          <a:p>
            <a:pPr lvl="0" indent="-457200">
              <a:buFont typeface="Wingdings" panose="05000000000000000000" pitchFamily="2" charset="2"/>
              <a:buChar char="ü"/>
            </a:pPr>
            <a:r>
              <a:rPr lang="en-US" sz="2400" dirty="0"/>
              <a:t>Existing tree management practices lack a standardized, interactive system for real-time information access, monitoring, and public awareness.</a:t>
            </a:r>
          </a:p>
          <a:p>
            <a:pPr lvl="0" indent="-457200">
              <a:buFont typeface="Wingdings" panose="05000000000000000000" pitchFamily="2" charset="2"/>
              <a:buChar char="ü"/>
            </a:pPr>
            <a:endParaRPr lang="en-US" sz="2400" dirty="0"/>
          </a:p>
          <a:p>
            <a:pPr lvl="0" indent="-457200">
              <a:buFont typeface="Wingdings" panose="05000000000000000000" pitchFamily="2" charset="2"/>
              <a:buChar char="ü"/>
            </a:pPr>
            <a:r>
              <a:rPr lang="en-US" sz="2400" dirty="0"/>
              <a:t>Each tree is assigned a unique QR code linked to a centralized database containing species data, geo-location, plantation details, and ecological value.</a:t>
            </a:r>
          </a:p>
          <a:p>
            <a:pPr lvl="0" indent="-457200">
              <a:buFont typeface="Wingdings" panose="05000000000000000000" pitchFamily="2" charset="2"/>
              <a:buChar char="ü"/>
            </a:pPr>
            <a:endParaRPr lang="en-US" sz="2400" dirty="0"/>
          </a:p>
          <a:p>
            <a:pPr indent="-457200">
              <a:buFont typeface="Wingdings" panose="05000000000000000000" pitchFamily="2" charset="2"/>
              <a:buChar char="ü"/>
            </a:pPr>
            <a:r>
              <a:rPr lang="en-US" sz="2400" dirty="0"/>
              <a:t>The proposed system enables quick, accurate access to verified tree information through mobile devices, enhancing transparency and environmental engagement.</a:t>
            </a:r>
          </a:p>
          <a:p>
            <a:pPr marL="0" indent="0">
              <a:buNone/>
            </a:pPr>
            <a:endParaRPr lang="en-US" sz="2400" dirty="0"/>
          </a:p>
          <a:p>
            <a:pPr lvl="0" indent="-457200">
              <a:buFont typeface="Wingdings" panose="05000000000000000000" pitchFamily="2" charset="2"/>
              <a:buChar char="ü"/>
            </a:pPr>
            <a:r>
              <a:rPr lang="en-US" sz="2400" dirty="0"/>
              <a:t>The Green QR system demonstrates an efficient, scalable, and eco-friendly solution that supports smart campus initiatives and sustainable environmental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Introduction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This project is designed to create a smart tree information system using QR codes, allowing users to scan and access detailed information about any tree instantly.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helps in environmental awareness by educating people about tree species, their benefits, and conservation methods, making learning interactive and modern.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 chose this project to combine technology with nature, providing a digital solution for tree identification and information sharing, which is not widely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also gives practical exposure to QR code technology, web or mobile development, and database management, enhancing technical and problem-solving skills.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This project is unique because it bridges technology and environmental education, making tree data accessible anytime, anywhere, and promoting eco-friendly habits.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This project is unique because it bridges technology and environmental education, making tree data accessible anytime, anywhere, and promoting eco-friendly habits.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Software Requirements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505" y="1789471"/>
            <a:ext cx="11779135" cy="4702768"/>
          </a:xfrm>
        </p:spPr>
        <p:txBody>
          <a:bodyPr/>
          <a:lstStyle/>
          <a:p>
            <a:pPr marL="50800" indent="0">
              <a:buNone/>
            </a:pPr>
            <a:r>
              <a:rPr lang="en-IN" sz="2400" b="1" dirty="0"/>
              <a:t>Development Tools / IDEs</a:t>
            </a:r>
            <a:endParaRPr lang="en-IN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Visual Studio Code</a:t>
            </a:r>
          </a:p>
          <a:p>
            <a:pPr marL="50800" indent="0">
              <a:buNone/>
            </a:pPr>
            <a:r>
              <a:rPr lang="en-IN" sz="2400" b="1" dirty="0"/>
              <a:t>Programming / Markup Languages</a:t>
            </a:r>
            <a:endParaRPr lang="en-IN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HTML5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CSS3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dirty="0"/>
              <a:t>JavaScript</a:t>
            </a:r>
          </a:p>
          <a:p>
            <a:pPr marL="508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Datasets/Modules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b="1" dirty="0"/>
              <a:t>Datasets / Modules</a:t>
            </a:r>
          </a:p>
          <a:p>
            <a:r>
              <a:rPr lang="en-IN" sz="2400" b="1" dirty="0"/>
              <a:t>User Module</a:t>
            </a:r>
            <a:endParaRPr lang="en-IN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Stores registered user information.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Fields:</a:t>
            </a:r>
            <a:r>
              <a:rPr lang="en-IN" dirty="0"/>
              <a:t> Username, Email, Password (hashed), Terms Accepted.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Purpose:</a:t>
            </a:r>
            <a:r>
              <a:rPr lang="en-IN" dirty="0"/>
              <a:t> Handles user registration, login, and authentication.</a:t>
            </a:r>
          </a:p>
          <a:p>
            <a:r>
              <a:rPr lang="en-IN" sz="2400" b="1" dirty="0"/>
              <a:t>Tree Module</a:t>
            </a:r>
            <a:endParaRPr lang="en-IN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Stores details of trees in the system.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Fields:</a:t>
            </a:r>
            <a:r>
              <a:rPr lang="en-IN" dirty="0"/>
              <a:t> Tree ID, Tree Name/Type, QR Code, Location, User ID (tree owner).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Purpose:</a:t>
            </a:r>
            <a:r>
              <a:rPr lang="en-IN" dirty="0"/>
              <a:t> Generates unique QR codes and tracks tree ownership.</a:t>
            </a:r>
          </a:p>
          <a:p>
            <a:r>
              <a:rPr lang="en-IN" sz="2400" b="1" dirty="0"/>
              <a:t>Green Wealth Card Module</a:t>
            </a:r>
            <a:endParaRPr lang="en-IN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Stores users’ contributions and rewards.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Fields:</a:t>
            </a:r>
            <a:r>
              <a:rPr lang="en-IN" dirty="0"/>
              <a:t> Card ID, User Name, User ID, Reward Points, Tree Linked.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Purpose:</a:t>
            </a:r>
            <a:r>
              <a:rPr lang="en-IN" dirty="0"/>
              <a:t> Displays user’s green contributions and reward points.</a:t>
            </a:r>
          </a:p>
          <a:p>
            <a:pPr marL="508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6956-0F7C-6500-1BDD-99CB5C4B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Implementation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281D3-63F8-DDB4-903A-7724CC29B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F6CD3-A68A-1E48-253C-FF26F1E7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3" y="3930759"/>
            <a:ext cx="5784317" cy="25614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004D9A-B056-0340-29AA-061B8E55E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3930759"/>
            <a:ext cx="5882640" cy="2561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301DD8-D99B-C235-4E67-B6AC44FD9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1097279"/>
            <a:ext cx="5882640" cy="2755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725485-DBB1-B521-91BC-A19FB54B4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22" y="1097279"/>
            <a:ext cx="5784317" cy="278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19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42BE-C166-292A-16B3-13A50825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 of Use Case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AC1BB-1F17-4CC8-77F7-9D3A23C35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This </a:t>
            </a:r>
            <a:r>
              <a:rPr lang="en-US" sz="2400" b="1" dirty="0"/>
              <a:t>Use Case Diagram</a:t>
            </a:r>
            <a:r>
              <a:rPr lang="en-US" sz="2400" dirty="0"/>
              <a:t> represents the </a:t>
            </a:r>
            <a:r>
              <a:rPr lang="en-US" sz="2400" b="1" dirty="0"/>
              <a:t>functionalities of the system</a:t>
            </a:r>
            <a:r>
              <a:rPr lang="en-US" sz="2400" dirty="0"/>
              <a:t> and how the </a:t>
            </a:r>
            <a:r>
              <a:rPr lang="en-US" sz="2400" b="1" dirty="0"/>
              <a:t>user interacts</a:t>
            </a:r>
            <a:r>
              <a:rPr lang="en-US" sz="2400" dirty="0"/>
              <a:t> with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User</a:t>
            </a:r>
            <a:r>
              <a:rPr lang="en-US" sz="2400" dirty="0"/>
              <a:t> is the main actor who uses the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First, the user performs </a:t>
            </a:r>
            <a:r>
              <a:rPr lang="en-US" sz="2400" b="1" dirty="0"/>
              <a:t>Register / Login</a:t>
            </a:r>
            <a:r>
              <a:rPr lang="en-US" sz="2400" dirty="0"/>
              <a:t> to access </a:t>
            </a:r>
          </a:p>
          <a:p>
            <a:pPr marL="50800" indent="0">
              <a:buNone/>
            </a:pPr>
            <a:r>
              <a:rPr lang="en-US" sz="2400" dirty="0"/>
              <a:t>the system.</a:t>
            </a:r>
          </a:p>
          <a:p>
            <a:pPr marL="50800" indent="0">
              <a:buNone/>
            </a:pPr>
            <a:r>
              <a:rPr lang="en-US" sz="2400" dirty="0"/>
              <a:t>After logging in, the user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Scan QR Code</a:t>
            </a:r>
            <a:r>
              <a:rPr lang="en-US" sz="2400" dirty="0"/>
              <a:t> placed on a tree to identify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View Tree Info</a:t>
            </a:r>
            <a:r>
              <a:rPr lang="en-US" sz="2400" dirty="0"/>
              <a:t>, such as tree name, location, benefits,</a:t>
            </a:r>
          </a:p>
          <a:p>
            <a:pPr marL="50800" indent="0">
              <a:buNone/>
            </a:pPr>
            <a:r>
              <a:rPr lang="en-US" sz="2400" dirty="0"/>
              <a:t> and other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Manage Green Wealth Card</a:t>
            </a:r>
            <a:r>
              <a:rPr lang="en-US" sz="2400" dirty="0"/>
              <a:t>, which stores eco-related activities and links trees.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View Reward Points</a:t>
            </a:r>
            <a:r>
              <a:rPr lang="en-US" sz="2400" dirty="0"/>
              <a:t> earned for scanning trees and contributing to green initiatives.</a:t>
            </a:r>
          </a:p>
          <a:p>
            <a:pPr marL="50800" indent="0">
              <a:buNone/>
            </a:pPr>
            <a:endParaRPr lang="en-US" sz="2400" dirty="0"/>
          </a:p>
          <a:p>
            <a:pPr marL="50800" indent="0"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08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67CD6-8C53-61EB-DE12-AEAAA9F2E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852" y="1718457"/>
            <a:ext cx="4525788" cy="347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77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EF01-BBE4-FE97-4E84-79DA801A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 of Class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C22C2-A972-108A-5A89-A03A83182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This </a:t>
            </a:r>
            <a:r>
              <a:rPr lang="en-US" sz="2000" b="1" dirty="0"/>
              <a:t>Class Diagram</a:t>
            </a:r>
            <a:r>
              <a:rPr lang="en-US" sz="2000" dirty="0"/>
              <a:t> shows the data structure of the system, including classes, their attributes, and relationships.</a:t>
            </a:r>
          </a:p>
          <a:p>
            <a:pPr marL="50800" indent="0">
              <a:buNone/>
            </a:pPr>
            <a:r>
              <a:rPr lang="en-US" sz="2000" b="1" dirty="0"/>
              <a:t>User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Stores user details such as </a:t>
            </a:r>
            <a:r>
              <a:rPr lang="en-US" sz="2000" dirty="0" err="1"/>
              <a:t>userId</a:t>
            </a:r>
            <a:r>
              <a:rPr lang="en-US" sz="2000" dirty="0"/>
              <a:t>, username, email, and</a:t>
            </a:r>
          </a:p>
          <a:p>
            <a:pPr marL="50800" indent="0">
              <a:buNone/>
            </a:pPr>
            <a:r>
              <a:rPr lang="en-US" sz="2000" dirty="0"/>
              <a:t> password.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Represents people who use the application.</a:t>
            </a:r>
          </a:p>
          <a:p>
            <a:pPr marL="50800" indent="0">
              <a:buNone/>
            </a:pPr>
            <a:r>
              <a:rPr lang="en-US" sz="2000" b="1" dirty="0"/>
              <a:t>Tree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Stores tree-related information like </a:t>
            </a:r>
            <a:r>
              <a:rPr lang="en-US" sz="2000" dirty="0" err="1"/>
              <a:t>treeId</a:t>
            </a:r>
            <a:r>
              <a:rPr lang="en-US" sz="2000" dirty="0"/>
              <a:t>, </a:t>
            </a:r>
            <a:r>
              <a:rPr lang="en-US" sz="2000" dirty="0" err="1"/>
              <a:t>treeName</a:t>
            </a:r>
            <a:r>
              <a:rPr lang="en-US" sz="2000" dirty="0"/>
              <a:t>, </a:t>
            </a:r>
          </a:p>
          <a:p>
            <a:pPr marL="50800" indent="0">
              <a:buNone/>
            </a:pPr>
            <a:r>
              <a:rPr lang="en-US" sz="2000" dirty="0"/>
              <a:t>location, QR code, and </a:t>
            </a:r>
            <a:r>
              <a:rPr lang="en-US" sz="2000" dirty="0" err="1"/>
              <a:t>userId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Each tree is linked to a user through the </a:t>
            </a:r>
            <a:r>
              <a:rPr lang="en-US" sz="2000" dirty="0" err="1"/>
              <a:t>userId</a:t>
            </a:r>
            <a:r>
              <a:rPr lang="en-US" sz="2000" dirty="0"/>
              <a:t>.</a:t>
            </a:r>
          </a:p>
          <a:p>
            <a:pPr marL="50800" indent="0">
              <a:buNone/>
            </a:pPr>
            <a:r>
              <a:rPr lang="en-US" sz="2400" b="1" dirty="0" err="1"/>
              <a:t>GreenWealthCard</a:t>
            </a:r>
            <a:r>
              <a:rPr lang="en-US" sz="2400" b="1" dirty="0"/>
              <a:t>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Contains </a:t>
            </a:r>
            <a:r>
              <a:rPr lang="en-US" sz="2400" dirty="0" err="1"/>
              <a:t>cardId</a:t>
            </a:r>
            <a:r>
              <a:rPr lang="en-US" sz="2400" dirty="0"/>
              <a:t>, </a:t>
            </a:r>
            <a:r>
              <a:rPr lang="en-US" sz="2400" dirty="0" err="1"/>
              <a:t>userId</a:t>
            </a:r>
            <a:r>
              <a:rPr lang="en-US" sz="2400" dirty="0"/>
              <a:t>, </a:t>
            </a:r>
            <a:r>
              <a:rPr lang="en-US" sz="2400" dirty="0" err="1"/>
              <a:t>rewardPoints</a:t>
            </a:r>
            <a:r>
              <a:rPr lang="en-US" sz="2400" dirty="0"/>
              <a:t>, and </a:t>
            </a:r>
            <a:r>
              <a:rPr lang="en-US" sz="2400" dirty="0" err="1"/>
              <a:t>treeLinked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Used to track eco-rewards earned by the user.</a:t>
            </a:r>
          </a:p>
          <a:p>
            <a:pPr marL="50800" indent="0">
              <a:buNone/>
            </a:pPr>
            <a:endParaRPr lang="en-US" sz="2400" b="1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824F6-B35C-636B-3F2A-475A08082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811" y="1858296"/>
            <a:ext cx="4046594" cy="278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454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5384-A7CB-E19F-A64D-0215DB44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 of Sequence</a:t>
            </a:r>
            <a:endParaRPr lang="en-IN" dirty="0"/>
          </a:p>
        </p:txBody>
      </p:sp>
      <p:sp>
        <p:nvSpPr>
          <p:cNvPr id="4" name="AutoShape 2" descr="Uploaded image">
            <a:extLst>
              <a:ext uri="{FF2B5EF4-FFF2-40B4-BE49-F238E27FC236}">
                <a16:creationId xmlns:a16="http://schemas.microsoft.com/office/drawing/2014/main" id="{FC9B85F1-2876-A9FB-8072-03454462D243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50800" indent="0">
              <a:buNone/>
            </a:pPr>
            <a:r>
              <a:rPr lang="en-US" sz="2600" dirty="0"/>
              <a:t>This </a:t>
            </a:r>
            <a:r>
              <a:rPr lang="en-US" sz="2600" b="1" dirty="0"/>
              <a:t>Sequence Diagram</a:t>
            </a:r>
            <a:r>
              <a:rPr lang="en-US" sz="2600" dirty="0"/>
              <a:t> explains the </a:t>
            </a:r>
            <a:r>
              <a:rPr lang="en-US" sz="2600" b="1" dirty="0"/>
              <a:t>step-by-step interaction</a:t>
            </a:r>
            <a:r>
              <a:rPr lang="en-US" sz="2600" dirty="0"/>
              <a:t> between different components when a user scans a tree QR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Participants involved: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QR Scanner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Database</a:t>
            </a:r>
          </a:p>
          <a:p>
            <a:pPr marL="50800" indent="0">
              <a:buNone/>
            </a:pPr>
            <a:r>
              <a:rPr lang="en-US" b="1" dirty="0"/>
              <a:t>Flow of actions:</a:t>
            </a:r>
            <a:endParaRPr lang="en-US" dirty="0"/>
          </a:p>
          <a:p>
            <a:r>
              <a:rPr lang="en-US" sz="2600" dirty="0"/>
              <a:t>The User scans the QR code placed on the tree.</a:t>
            </a:r>
          </a:p>
          <a:p>
            <a:r>
              <a:rPr lang="en-US" sz="2600" dirty="0"/>
              <a:t>The QR Scanner reads the Tree ID from the QR code.</a:t>
            </a:r>
          </a:p>
          <a:p>
            <a:r>
              <a:rPr lang="en-US" sz="2600" dirty="0"/>
              <a:t>The System sends a request to the Database to fetch tree details.</a:t>
            </a:r>
          </a:p>
          <a:p>
            <a:r>
              <a:rPr lang="en-US" sz="2600" dirty="0"/>
              <a:t>The Database returns the tree information to the system.</a:t>
            </a:r>
          </a:p>
          <a:p>
            <a:r>
              <a:rPr lang="en-US" sz="2600" dirty="0"/>
              <a:t>The System displays the tree information to the user.</a:t>
            </a:r>
          </a:p>
          <a:p>
            <a:pPr marL="508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3FE1F8-A721-6338-2114-96A9B0847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316" y="1671484"/>
            <a:ext cx="4003354" cy="27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8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1A7C-2DAC-A76B-BBA9-E2621B79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 of Activity &amp; Component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CF455-5DE8-EE75-32A4-928F84C8D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50800" indent="0">
              <a:buNone/>
            </a:pPr>
            <a:r>
              <a:rPr lang="en-US" sz="2600" b="1" dirty="0"/>
              <a:t>Activity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Shows the step-by-step flow of user actions in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Starts from opening the app and ends with logout.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Includes main activities like login/register, QR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code scanning, viewing tree details, and reward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Helps understand the overall working process of the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 application.</a:t>
            </a:r>
          </a:p>
          <a:p>
            <a:pPr marL="50800" indent="0">
              <a:buNone/>
            </a:pPr>
            <a:r>
              <a:rPr lang="en-US" sz="2600" b="1" dirty="0"/>
              <a:t>Component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Shows the high-level system architecture of the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Consists of User Interface, QR Code Scanner, Backend Logic, and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Explains how data flows between frontend and backend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Helps in understanding system design and integration.</a:t>
            </a:r>
          </a:p>
          <a:p>
            <a:pPr marL="508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D819D4-78E4-53C0-4DB4-3B9FCD559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142" y="1651292"/>
            <a:ext cx="3985856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32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Outputs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83528-7FEE-0EDB-9871-3CD28592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037579"/>
            <a:ext cx="1177913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B29A-CBB0-DF03-A295-DA87C3CB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Outputs </a:t>
            </a:r>
            <a:r>
              <a:rPr lang="en-US" dirty="0" err="1">
                <a:sym typeface="+mn-ea"/>
              </a:rPr>
              <a:t>Cont</a:t>
            </a:r>
            <a:r>
              <a:rPr lang="en-US" dirty="0">
                <a:sym typeface="+mn-ea"/>
              </a:rPr>
              <a:t>…..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B466B-A35F-298B-5DA9-49645DB70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538C9-4836-1451-3C1A-88584F859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097279"/>
            <a:ext cx="11765280" cy="533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32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7A29-EB98-0967-DE69-AFE61F70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Outputs </a:t>
            </a:r>
            <a:r>
              <a:rPr lang="en-US" dirty="0" err="1">
                <a:sym typeface="+mn-ea"/>
              </a:rPr>
              <a:t>Cont</a:t>
            </a:r>
            <a:r>
              <a:rPr lang="en-US" dirty="0">
                <a:sym typeface="+mn-ea"/>
              </a:rPr>
              <a:t>…..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9FED5-69E8-C572-1DD0-ECEFBD0D7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1CE50-4646-8D72-64E1-8A1193D81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1097279"/>
            <a:ext cx="11779135" cy="531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10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EDA4-551D-D5C7-E02B-B0B72F84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Outputs </a:t>
            </a:r>
            <a:r>
              <a:rPr lang="en-US" dirty="0" err="1">
                <a:sym typeface="+mn-ea"/>
              </a:rPr>
              <a:t>Cont</a:t>
            </a:r>
            <a:r>
              <a:rPr lang="en-US" dirty="0">
                <a:sym typeface="+mn-ea"/>
              </a:rPr>
              <a:t>…..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0972B-D637-E7CC-A3BF-A8DB2318B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93A9B-0E4E-F91B-9F9F-0D622245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06" y="1097278"/>
            <a:ext cx="11779134" cy="539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31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D0F1-A577-8E1F-039D-5B72E1080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Outputs </a:t>
            </a:r>
            <a:r>
              <a:rPr lang="en-US" dirty="0" err="1">
                <a:sym typeface="+mn-ea"/>
              </a:rPr>
              <a:t>Cont</a:t>
            </a:r>
            <a:r>
              <a:rPr lang="en-US" dirty="0">
                <a:sym typeface="+mn-ea"/>
              </a:rPr>
              <a:t>…..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715CE-D52F-B911-F315-BE5A6F2C4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0800" indent="0">
              <a:buNone/>
            </a:pPr>
            <a:r>
              <a:rPr lang="en-IN" sz="2400" dirty="0"/>
              <a:t>Tree ID: GG-001</a:t>
            </a:r>
          </a:p>
          <a:p>
            <a:pPr marL="50800" indent="0">
              <a:buNone/>
            </a:pPr>
            <a:r>
              <a:rPr lang="en-IN" sz="2400" dirty="0"/>
              <a:t>Tree Name: Neem</a:t>
            </a:r>
          </a:p>
          <a:p>
            <a:pPr marL="50800" indent="0">
              <a:buNone/>
            </a:pPr>
            <a:r>
              <a:rPr lang="en-IN" sz="2400" dirty="0"/>
              <a:t>Scientific Name: </a:t>
            </a:r>
            <a:r>
              <a:rPr lang="en-IN" sz="2400" dirty="0" err="1"/>
              <a:t>Azadirachta</a:t>
            </a:r>
            <a:r>
              <a:rPr lang="en-IN" sz="2400" dirty="0"/>
              <a:t> indica</a:t>
            </a:r>
          </a:p>
          <a:p>
            <a:pPr marL="50800" indent="0">
              <a:buNone/>
            </a:pPr>
            <a:r>
              <a:rPr lang="en-IN" sz="2400" dirty="0"/>
              <a:t>Age: 5 Years</a:t>
            </a:r>
          </a:p>
          <a:p>
            <a:pPr marL="50800" indent="0">
              <a:buNone/>
            </a:pPr>
            <a:r>
              <a:rPr lang="en-IN" sz="2400" dirty="0"/>
              <a:t>Location: College Campus</a:t>
            </a:r>
          </a:p>
          <a:p>
            <a:pPr marL="50800" indent="0">
              <a:buNone/>
            </a:pPr>
            <a:r>
              <a:rPr lang="en-IN" sz="2400" dirty="0"/>
              <a:t>Advantages: Produces oxygen, purifies air, antibacterial properties</a:t>
            </a:r>
          </a:p>
          <a:p>
            <a:pPr marL="50800" indent="0">
              <a:buNone/>
            </a:pPr>
            <a:r>
              <a:rPr lang="en-IN" sz="2400" dirty="0"/>
              <a:t>Disadvantages: Bitter taste, excessive use may cause irritation</a:t>
            </a:r>
          </a:p>
          <a:p>
            <a:pPr marL="50800" indent="0">
              <a:buNone/>
            </a:pPr>
            <a:r>
              <a:rPr lang="en-IN" sz="2400" dirty="0"/>
              <a:t>Medicinal Uses: Skin diseases, dental care, fever treatment</a:t>
            </a:r>
          </a:p>
          <a:p>
            <a:pPr marL="50800" indent="0">
              <a:buNone/>
            </a:pPr>
            <a:r>
              <a:rPr lang="en-IN" sz="2400" dirty="0"/>
              <a:t>Oxygen: High oxygen production</a:t>
            </a:r>
          </a:p>
          <a:p>
            <a:pPr marL="50800" indent="0">
              <a:buNone/>
            </a:pPr>
            <a:r>
              <a:rPr lang="en-IN" sz="2400" dirty="0"/>
              <a:t>Helpfulness: Improves human health, provides shade and oxygen for animals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1B6D97-DB95-7BAC-BAF9-2B10C428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040" y="1305560"/>
            <a:ext cx="3083560" cy="308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74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6676-75DE-0DC1-EADD-818BA11D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Outputs </a:t>
            </a:r>
            <a:r>
              <a:rPr lang="en-US" dirty="0" err="1">
                <a:sym typeface="+mn-ea"/>
              </a:rPr>
              <a:t>Cont</a:t>
            </a:r>
            <a:r>
              <a:rPr lang="en-US" dirty="0">
                <a:sym typeface="+mn-ea"/>
              </a:rPr>
              <a:t>…..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54B5E-F556-13A3-CC91-04FFA02F4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0800" indent="0">
              <a:buNone/>
            </a:pPr>
            <a:r>
              <a:rPr lang="en-IN" sz="2400" dirty="0"/>
              <a:t>Tree ID: GG-003</a:t>
            </a:r>
          </a:p>
          <a:p>
            <a:pPr marL="50800" indent="0">
              <a:buNone/>
            </a:pPr>
            <a:r>
              <a:rPr lang="en-IN" sz="2400" dirty="0"/>
              <a:t>Tree Name: Guava                                                     </a:t>
            </a:r>
          </a:p>
          <a:p>
            <a:pPr marL="50800" indent="0">
              <a:buNone/>
            </a:pPr>
            <a:r>
              <a:rPr lang="en-IN" sz="2400" dirty="0"/>
              <a:t>Scientific Name: Psidium guajava</a:t>
            </a:r>
          </a:p>
          <a:p>
            <a:pPr marL="50800" indent="0">
              <a:buNone/>
            </a:pPr>
            <a:r>
              <a:rPr lang="en-IN" sz="2400" dirty="0"/>
              <a:t>Age: 3 Years</a:t>
            </a:r>
          </a:p>
          <a:p>
            <a:pPr marL="50800" indent="0">
              <a:buNone/>
            </a:pPr>
            <a:r>
              <a:rPr lang="en-IN" sz="2400" dirty="0"/>
              <a:t>Location: Garden</a:t>
            </a:r>
          </a:p>
          <a:p>
            <a:pPr marL="50800" indent="0">
              <a:buNone/>
            </a:pPr>
            <a:r>
              <a:rPr lang="en-IN" sz="2400" dirty="0"/>
              <a:t>Advantages: Nutritious fruits, air purification</a:t>
            </a:r>
          </a:p>
          <a:p>
            <a:pPr marL="50800" indent="0">
              <a:buNone/>
            </a:pPr>
            <a:r>
              <a:rPr lang="en-IN" sz="2400" dirty="0"/>
              <a:t>Disadvantages: Attracts insects</a:t>
            </a:r>
          </a:p>
          <a:p>
            <a:pPr marL="50800" indent="0">
              <a:buNone/>
            </a:pPr>
            <a:r>
              <a:rPr lang="en-IN" sz="2400" dirty="0"/>
              <a:t>Medicinal Uses: </a:t>
            </a:r>
            <a:r>
              <a:rPr lang="en-IN" sz="2400" dirty="0" err="1"/>
              <a:t>Diarrhea</a:t>
            </a:r>
            <a:r>
              <a:rPr lang="en-IN" sz="2400" dirty="0"/>
              <a:t> treatment, vitamin C source</a:t>
            </a:r>
          </a:p>
          <a:p>
            <a:pPr marL="50800" indent="0">
              <a:buNone/>
            </a:pPr>
            <a:r>
              <a:rPr lang="en-IN" sz="2400" dirty="0"/>
              <a:t>Oxygen: Moderate oxygen production</a:t>
            </a:r>
          </a:p>
          <a:p>
            <a:pPr marL="50800" indent="0">
              <a:buNone/>
            </a:pPr>
            <a:r>
              <a:rPr lang="en-IN" sz="2400" dirty="0"/>
              <a:t>Helpfulness: Food and medicine for humans, fruits for animals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4F5E7-42B1-DC54-5DA8-08D98A8EF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95" y="1279831"/>
            <a:ext cx="3404747" cy="340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84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Conclusion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Green QR: Smart Tree Information System provides accurate and digital access to tree information through QR codes, ensuring efficient and user-friendly data retrieval.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project reduces manual record maintenance and promotes an eco-friendly, paperless system for managing tree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improves environmental awareness and enables effective monitoring of trees in campuses, institutions, and public spaces.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 the future, the system can be enhanced with GPS tracking, mobile application support, and IoT sensors for real-time tree health monitoring.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integration of Artificial Intelligence (AI) can help in analyzing tree growth, predicting diseases, and supporting smart city and large-scale environmental management.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References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500" b="1" dirty="0"/>
              <a:t>Book</a:t>
            </a:r>
          </a:p>
          <a:p>
            <a:pPr marL="50800" indent="0">
              <a:buNone/>
            </a:pPr>
            <a:r>
              <a:rPr lang="en-US" sz="2500" dirty="0"/>
              <a:t>[1] I. Sommerville, </a:t>
            </a:r>
            <a:r>
              <a:rPr lang="en-US" sz="2500" i="1" dirty="0"/>
              <a:t>Software Engineering</a:t>
            </a:r>
            <a:r>
              <a:rPr lang="en-US" sz="2500" dirty="0"/>
              <a:t>, 10th ed. Boston: Pearson Education, 2016.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/>
              <a:t>Journal Article</a:t>
            </a:r>
          </a:p>
          <a:p>
            <a:pPr marL="50800" indent="0">
              <a:buNone/>
            </a:pPr>
            <a:r>
              <a:rPr lang="en-IN" sz="2500" dirty="0"/>
              <a:t>[2] A. Sharma and R. K. Gupta, “QR code based information systems for smart environment management,” </a:t>
            </a:r>
            <a:r>
              <a:rPr lang="en-IN" sz="2500" i="1" dirty="0"/>
              <a:t>International Journal of Computer Applications</a:t>
            </a:r>
            <a:r>
              <a:rPr lang="en-IN" sz="2500" dirty="0"/>
              <a:t>, vol. 175, no. 12, pp. 15–19, June 2020.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/>
              <a:t>Newspaper Article</a:t>
            </a:r>
            <a:endParaRPr lang="en-US" sz="2500" b="1" dirty="0"/>
          </a:p>
          <a:p>
            <a:pPr marL="50800" indent="0">
              <a:buNone/>
            </a:pPr>
            <a:r>
              <a:rPr lang="en-US" sz="2500" dirty="0"/>
              <a:t>[3] “Digital technology supports green initiatives in smart cities,” </a:t>
            </a:r>
            <a:r>
              <a:rPr lang="en-US" sz="2500" i="1" dirty="0"/>
              <a:t>The Times of India</a:t>
            </a:r>
            <a:r>
              <a:rPr lang="en-US" sz="2500" dirty="0"/>
              <a:t>, vol. 183, pp. 6–7, March 12, 2022.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b="1" dirty="0"/>
              <a:t>Technical Report</a:t>
            </a:r>
          </a:p>
          <a:p>
            <a:pPr marL="50800" indent="0">
              <a:buNone/>
            </a:pPr>
            <a:r>
              <a:rPr lang="en-US" sz="2500" dirty="0"/>
              <a:t>[4] Ministry of Environment, Forest and Climate Change, “Digital solutions for environmental monitoring,” Government of India, Technical Report ENV-TR-2021-08, August 2021.</a:t>
            </a:r>
            <a:endParaRPr lang="en-US" altLang="en-US" sz="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0" y="2308860"/>
            <a:ext cx="12192635" cy="2952750"/>
          </a:xfrm>
        </p:spPr>
        <p:txBody>
          <a:bodyPr/>
          <a:lstStyle/>
          <a:p>
            <a:pPr marL="50800" indent="0" algn="ctr">
              <a:buNone/>
            </a:pPr>
            <a:r>
              <a:rPr lang="en-US" sz="12800" i="1">
                <a:ln w="15875"/>
                <a:solidFill>
                  <a:srgbClr val="F78F07"/>
                </a:solidFill>
                <a:effectLst/>
                <a:latin typeface="Verdana" panose="020B0604030504040204" charset="0"/>
                <a:cs typeface="Verdana" panose="020B0604030504040204" charset="0"/>
              </a:rPr>
              <a:t>Thank You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0" y="2308860"/>
            <a:ext cx="12192635" cy="2952750"/>
          </a:xfrm>
        </p:spPr>
        <p:txBody>
          <a:bodyPr/>
          <a:lstStyle/>
          <a:p>
            <a:pPr marL="50800" indent="0" algn="ctr">
              <a:buNone/>
            </a:pPr>
            <a:r>
              <a:rPr lang="en-US" sz="12800" i="1">
                <a:ln w="15875"/>
                <a:solidFill>
                  <a:srgbClr val="F78F07"/>
                </a:solidFill>
                <a:effectLst/>
                <a:latin typeface="Verdana" panose="020B0604030504040204" charset="0"/>
                <a:cs typeface="Verdana" panose="020B0604030504040204" charset="0"/>
              </a:rPr>
              <a:t>Any Queries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1432</Words>
  <Application>Microsoft Office PowerPoint</Application>
  <PresentationFormat>Widescreen</PresentationFormat>
  <Paragraphs>180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Courier New</vt:lpstr>
      <vt:lpstr>Noto Sans Symbols</vt:lpstr>
      <vt:lpstr>Times New Roman</vt:lpstr>
      <vt:lpstr>Verdana</vt:lpstr>
      <vt:lpstr>Wingdings</vt:lpstr>
      <vt:lpstr>Custom Design</vt:lpstr>
      <vt:lpstr>PowerPoint Presentation</vt:lpstr>
      <vt:lpstr>Queries From Review 0</vt:lpstr>
      <vt:lpstr>Title Explaination</vt:lpstr>
      <vt:lpstr>Contents</vt:lpstr>
      <vt:lpstr>Abstract</vt:lpstr>
      <vt:lpstr>Introduction</vt:lpstr>
      <vt:lpstr>Software Requirements</vt:lpstr>
      <vt:lpstr>Datasets/Modules</vt:lpstr>
      <vt:lpstr>Implementation </vt:lpstr>
      <vt:lpstr>UML Diagram of Use Case</vt:lpstr>
      <vt:lpstr>UML Diagram of Class</vt:lpstr>
      <vt:lpstr>UML Diagram of Sequence</vt:lpstr>
      <vt:lpstr>UML Diagram of Activity &amp; Component</vt:lpstr>
      <vt:lpstr>Outputs</vt:lpstr>
      <vt:lpstr>Outputs Cont…..</vt:lpstr>
      <vt:lpstr>Outputs Cont…..</vt:lpstr>
      <vt:lpstr>Outputs Cont…..</vt:lpstr>
      <vt:lpstr>Outputs Cont…..</vt:lpstr>
      <vt:lpstr>Outputs Cont…..</vt:lpstr>
      <vt:lpstr>Conclusion</vt:lpstr>
      <vt:lpstr>References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❤️ L</dc:creator>
  <cp:lastModifiedBy>Chaithanya Reddy</cp:lastModifiedBy>
  <cp:revision>24</cp:revision>
  <dcterms:created xsi:type="dcterms:W3CDTF">2025-03-06T07:29:00Z</dcterms:created>
  <dcterms:modified xsi:type="dcterms:W3CDTF">2026-01-10T05:53:20Z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8A58E4632DEF4CE798132557BA146826_13</vt:lpwstr>
  </property>
  <property fmtid="{D5CDD505-2E9C-101B-9397-08002B2CF9AE}" pid="3" name="KSOProductBuildVer">
    <vt:lpwstr>1033-12.2.0.23196</vt:lpwstr>
  </property>
</Properties>
</file>