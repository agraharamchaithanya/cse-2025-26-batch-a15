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  <p:sldMasterId id="2147483675" r:id="rId3"/>
    <p:sldMasterId id="2147483669" r:id="rId4"/>
    <p:sldMasterId id="2147483663" r:id="rId5"/>
    <p:sldMasterId id="2147483687" r:id="rId6"/>
  </p:sldMasterIdLst>
  <p:notesMasterIdLst>
    <p:notesMasterId r:id="rId33"/>
  </p:notesMasterIdLst>
  <p:sldIdLst>
    <p:sldId id="256" r:id="rId7"/>
    <p:sldId id="309" r:id="rId8"/>
    <p:sldId id="262" r:id="rId9"/>
    <p:sldId id="258" r:id="rId10"/>
    <p:sldId id="259" r:id="rId11"/>
    <p:sldId id="260" r:id="rId12"/>
    <p:sldId id="261" r:id="rId13"/>
    <p:sldId id="263" r:id="rId14"/>
    <p:sldId id="264" r:id="rId15"/>
    <p:sldId id="265" r:id="rId16"/>
    <p:sldId id="266" r:id="rId17"/>
    <p:sldId id="267" r:id="rId18"/>
    <p:sldId id="268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10" r:id="rId29"/>
    <p:sldId id="306" r:id="rId30"/>
    <p:sldId id="307" r:id="rId31"/>
    <p:sldId id="30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458" autoAdjust="0"/>
  </p:normalViewPr>
  <p:slideViewPr>
    <p:cSldViewPr snapToGrid="0">
      <p:cViewPr varScale="1">
        <p:scale>
          <a:sx n="74" d="100"/>
          <a:sy n="74" d="100"/>
        </p:scale>
        <p:origin x="10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E78E9-D951-47EE-AC23-CF92B0B33A62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7B93C-A743-4808-A151-3FEA7F841E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87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39BADE-1E73-47B9-85F4-C783C6E01931}" type="slidenum">
              <a:rPr kumimoji="0" lang="en-IN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73667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7B93C-A743-4808-A151-3FEA7F841E8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6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7B93C-A743-4808-A151-3FEA7F841E89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00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6861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-1253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noProof="0" dirty="0"/>
              <a:t>Green QR: Smart Tree Information System</a:t>
            </a:r>
            <a:endParaRPr noProof="0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772159"/>
            <a:ext cx="4739005" cy="106123"/>
          </a:xfrm>
        </p:spPr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884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984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69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107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096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702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347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977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11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Dept.</a:t>
            </a:r>
            <a:r>
              <a:rPr kumimoji="0" sz="1600" b="0" i="0" u="none" strike="noStrike" kern="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1600" b="0" i="0" u="none" strike="noStrike" kern="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sz="1600" b="0" i="0" u="none" strike="noStrike" kern="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Science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2581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Dept.</a:t>
            </a:r>
            <a:r>
              <a:rPr kumimoji="0" sz="1600" b="0" i="0" u="none" strike="noStrike" kern="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1600" b="0" i="0" u="none" strike="noStrike" kern="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sz="1600" b="0" i="0" u="none" strike="noStrike" kern="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Science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7766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Dept.</a:t>
            </a:r>
            <a:r>
              <a:rPr kumimoji="0" sz="1600" b="0" i="0" u="none" strike="noStrike" kern="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1600" b="0" i="0" u="none" strike="noStrike" kern="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sz="1600" b="0" i="0" u="none" strike="noStrike" kern="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Science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7771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Dept.</a:t>
            </a:r>
            <a:r>
              <a:rPr kumimoji="0" sz="1600" b="0" i="0" u="none" strike="noStrike" kern="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1600" b="0" i="0" u="none" strike="noStrike" kern="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sz="1600" b="0" i="0" u="none" strike="noStrike" kern="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Science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3891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Dept.</a:t>
            </a:r>
            <a:r>
              <a:rPr kumimoji="0" sz="1600" b="0" i="0" u="none" strike="noStrike" kern="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1600" b="0" i="0" u="none" strike="noStrike" kern="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sz="1600" b="0" i="0" u="none" strike="noStrike" kern="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Science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2990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32377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55415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971011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59475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433783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 i="1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0505305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  <a:defRPr sz="4400" b="0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  <a:defRPr/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/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Char char="o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777239" y="6642828"/>
            <a:ext cx="5654039" cy="215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  <a:endParaRPr sz="1600" b="0" i="0" u="none" strike="noStrike" cap="small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31278" y="6641866"/>
            <a:ext cx="5322917" cy="216133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Srinivasa Ramanujan Institute of Technology</a:t>
            </a: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1754196" y="6641865"/>
            <a:ext cx="437803" cy="2161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 dirty="0">
              <a:solidFill>
                <a:schemeClr val="bg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-1" y="0"/>
            <a:ext cx="12191999" cy="23275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Green QR : Smart Tree Information System </a:t>
            </a:r>
            <a:endParaRPr sz="1500" b="1" i="1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506200" y="595606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0" y="6642735"/>
            <a:ext cx="1159510" cy="215265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A15</a:t>
            </a:r>
            <a:endParaRPr sz="1600" b="0" i="0" u="none" strike="noStrike" cap="small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8919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Char char="o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3941884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343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120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Dept.</a:t>
            </a:r>
            <a:r>
              <a:rPr kumimoji="0" sz="1600" b="0" i="0" u="none" strike="noStrike" kern="120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1600" b="0" i="0" u="none" strike="noStrike" kern="120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Computer</a:t>
            </a:r>
            <a:r>
              <a:rPr kumimoji="0" sz="1600" b="0" i="0" u="none" strike="noStrike" kern="120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Science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</a:t>
            </a:r>
            <a:r>
              <a:rPr kumimoji="0" sz="1600" b="0" i="0" u="none" strike="noStrike" kern="120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120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120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120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419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small" spc="-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Dept.</a:t>
            </a:r>
            <a:r>
              <a:rPr kumimoji="0" sz="1600" b="0" i="0" u="none" strike="noStrike" kern="0" cap="small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1600" b="0" i="0" u="none" strike="noStrike" kern="0" cap="small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sz="1600" b="0" i="0" u="none" strike="noStrike" kern="0" cap="small" spc="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9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Science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1600" b="0" i="0" u="none" strike="noStrike" kern="0" cap="small" spc="5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small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022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6700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Char char="o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61857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github.com/LikithKumar2003/" TargetMode="External"/><Relationship Id="rId4" Type="http://schemas.openxmlformats.org/officeDocument/2006/relationships/hyperlink" Target="https://github.com/agraharamchaithanya/CSE-2025-26-Batch-A15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39"/>
            <a:ext cx="11414634" cy="226020"/>
            <a:chOff x="777240" y="6631919"/>
            <a:chExt cx="11414634" cy="226020"/>
          </a:xfrm>
        </p:grpSpPr>
        <p:sp>
          <p:nvSpPr>
            <p:cNvPr id="3" name="object 3"/>
            <p:cNvSpPr/>
            <p:nvPr/>
          </p:nvSpPr>
          <p:spPr>
            <a:xfrm>
              <a:off x="777240" y="663192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ts val="18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        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Department of Computer Science and Engineering</a:t>
              </a: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559424" y="6631919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     </a:t>
              </a:r>
              <a:r>
                <a:rPr kumimoji="0" lang="en-US" sz="1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Srinivasa Ramanujan Institute of Technology</a:t>
              </a:r>
              <a:endParaRPr kumimoji="0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754359" y="6636960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 </a:t>
              </a: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01</a:t>
              </a:r>
              <a:endParaRPr kumimoji="0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6634441"/>
            <a:ext cx="777240" cy="220978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marL="144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A - 15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67800" y="1735293"/>
            <a:ext cx="2255390" cy="424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208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V. Likith Kumar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35" marR="0" lvl="0" indent="0" algn="ctr" defTabSz="914400" eaLnBrk="1" fontAlgn="auto" latinLnBrk="0" hangingPunct="1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Roll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No.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4G1A05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42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8600" y="2476799"/>
            <a:ext cx="3689048" cy="93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marR="0" lvl="0" indent="0" algn="ctr" defTabSz="914400" eaLnBrk="1" fontAlgn="auto" latinLnBrk="0" hangingPunct="1">
              <a:lnSpc>
                <a:spcPts val="163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Under</a:t>
            </a:r>
            <a:r>
              <a:rPr kumimoji="0" sz="1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1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guidance</a:t>
            </a:r>
            <a:r>
              <a:rPr kumimoji="0" sz="1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4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065" marR="5080" lvl="0" indent="0" algn="ctr" defTabSz="914400" eaLnBrk="1" fontAlgn="auto" latinLnBrk="0" hangingPunct="1">
              <a:lnSpc>
                <a:spcPts val="279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Dr. P. Veera Prakash, </a:t>
            </a:r>
            <a:r>
              <a:rPr kumimoji="0" lang="en-IN" sz="11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M.Tech</a:t>
            </a:r>
            <a:r>
              <a:rPr kumimoji="0" lang="en-IN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., </a:t>
            </a:r>
            <a:r>
              <a:rPr kumimoji="0" lang="en-IN" sz="11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Ph.D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065" marR="5080" lvl="0" indent="0" algn="ctr" defTabSz="914400" eaLnBrk="1" fontAlgn="auto" latinLnBrk="0" hangingPunct="1">
              <a:lnSpc>
                <a:spcPts val="279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   Assistant Professor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47578" y="5096081"/>
            <a:ext cx="7987022" cy="1457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marR="0" lvl="0" indent="0" algn="ctr" defTabSz="914400" eaLnBrk="1" fontAlgn="auto" latinLnBrk="0" hangingPunct="1">
              <a:lnSpc>
                <a:spcPts val="23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Science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35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Srinivasa</a:t>
            </a:r>
            <a:r>
              <a:rPr kumimoji="0" sz="3400" b="0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Ramanujan</a:t>
            </a:r>
            <a:r>
              <a:rPr kumimoji="0" sz="3400" b="0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Institute</a:t>
            </a:r>
            <a:r>
              <a:rPr kumimoji="0" sz="3400" b="0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3400" b="0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3400" b="0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Technology</a:t>
            </a:r>
            <a:endParaRPr kumimoji="0" sz="3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350" marR="0" lvl="0" indent="0" algn="ctr" defTabSz="914400" eaLnBrk="1" fontAlgn="auto" latinLnBrk="0" hangingPunct="1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Autonomous</a:t>
            </a:r>
            <a:endParaRPr kumimoji="0" sz="17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620" marR="0" lvl="0" indent="0" algn="ctr" defTabSz="914400" eaLnBrk="1" fontAlgn="auto" latinLnBrk="0" hangingPunct="1">
              <a:lnSpc>
                <a:spcPts val="13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Rotarypuram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Village,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Samudram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Mandal,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Ananthapuramu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515701.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" marR="0" lvl="0" indent="0" algn="ctr" defTabSz="914400" eaLnBrk="1" fontAlgn="auto" latinLnBrk="0" hangingPunct="1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 dirty="0">
                <a:ln>
                  <a:noFill/>
                </a:ln>
                <a:solidFill>
                  <a:srgbClr val="1E4E78"/>
                </a:solidFill>
                <a:effectLst/>
                <a:uLnTx/>
                <a:uFillTx/>
                <a:latin typeface="Times New Roman"/>
                <a:cs typeface="Times New Roman"/>
              </a:rPr>
              <a:t>202</a:t>
            </a: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1E4E78"/>
                </a:solidFill>
                <a:effectLst/>
                <a:uLnTx/>
                <a:uFillTx/>
                <a:latin typeface="Times New Roman"/>
                <a:cs typeface="Times New Roman"/>
              </a:rPr>
              <a:t>5</a:t>
            </a:r>
            <a:r>
              <a:rPr kumimoji="0" sz="1300" b="1" i="0" u="none" strike="noStrike" kern="0" cap="none" spc="0" normalizeH="0" baseline="0" noProof="0" dirty="0">
                <a:ln>
                  <a:noFill/>
                </a:ln>
                <a:solidFill>
                  <a:srgbClr val="1E4E78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300" b="1" i="0" u="none" strike="noStrike" kern="0" cap="none" spc="-20" normalizeH="0" baseline="0" noProof="0" dirty="0">
                <a:ln>
                  <a:noFill/>
                </a:ln>
                <a:solidFill>
                  <a:srgbClr val="1E4E78"/>
                </a:solidFill>
                <a:effectLst/>
                <a:uLnTx/>
                <a:uFillTx/>
                <a:latin typeface="Times New Roman"/>
                <a:cs typeface="Times New Roman"/>
              </a:rPr>
              <a:t>202</a:t>
            </a:r>
            <a:r>
              <a:rPr kumimoji="0" lang="en-US" sz="1300" b="1" i="0" u="none" strike="noStrike" kern="0" cap="none" spc="-20" normalizeH="0" baseline="0" noProof="0" dirty="0">
                <a:ln>
                  <a:noFill/>
                </a:ln>
                <a:solidFill>
                  <a:srgbClr val="1E4E78"/>
                </a:solidFill>
                <a:effectLst/>
                <a:uLnTx/>
                <a:uFillTx/>
                <a:latin typeface="Times New Roman"/>
                <a:cs typeface="Times New Roman"/>
              </a:rPr>
              <a:t>6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4400" y="1724463"/>
            <a:ext cx="2743200" cy="4654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238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B. Shantha Vardhan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" marR="0" lvl="0" indent="0" algn="ctr" defTabSz="914400" eaLnBrk="1" fontAlgn="auto" latinLnBrk="0" hangingPunct="1">
              <a:lnSpc>
                <a:spcPts val="1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Roll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No.</a:t>
            </a:r>
            <a:r>
              <a:rPr kumimoji="0" sz="11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24G1A05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97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97237" y="1737539"/>
            <a:ext cx="2169795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A. Chaithanya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" marR="0" lvl="0" indent="0" algn="ctr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Roll No.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2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4G1A05</a:t>
            </a:r>
            <a:r>
              <a:rPr kumimoji="0" lang="en-US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13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5009" y="318271"/>
            <a:ext cx="10608310" cy="937894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908692" y="491407"/>
            <a:ext cx="1037461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                   Green QR: Smart Tree Information System</a:t>
            </a:r>
            <a:endParaRPr sz="3200" dirty="0"/>
          </a:p>
        </p:txBody>
      </p:sp>
      <p:sp>
        <p:nvSpPr>
          <p:cNvPr id="18" name="object 18"/>
          <p:cNvSpPr txBox="1"/>
          <p:nvPr/>
        </p:nvSpPr>
        <p:spPr>
          <a:xfrm>
            <a:off x="5987420" y="1278968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by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2311" y="3408075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F12D7-D615-CB1E-0B32-B2C62954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C5CF86-09F3-5323-684C-CDCF8FAFF60F}"/>
              </a:ext>
            </a:extLst>
          </p:cNvPr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                                  </a:t>
            </a: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Green QR: Smart Information System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F0EE7C1-7633-F85B-3D9F-43DB52B20966}"/>
              </a:ext>
            </a:extLst>
          </p:cNvPr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5D048C5-CEA9-970D-408E-11FCE69239A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28BF86A-4E41-9FA0-12F8-A9C7DED7092F}"/>
                </a:ext>
              </a:extLst>
            </p:cNvPr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18F5ADC7-E2CB-49BF-ABDF-02BF083139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Comments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813E66-69FE-254C-5B7B-7E2448C9F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1" y="1600200"/>
            <a:ext cx="11355114" cy="258532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What problem does the </a:t>
            </a:r>
            <a:r>
              <a:rPr lang="en-US" sz="2400" dirty="0" err="1"/>
              <a:t>GreenQR</a:t>
            </a:r>
            <a:r>
              <a:rPr lang="en-US" sz="2400" dirty="0"/>
              <a:t> Smart Tree Information System aim to solve?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How can the system be expanded to manage a large number of trees in different locations?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/>
              <a:t>What improvements can be added in the future to make the </a:t>
            </a:r>
            <a:r>
              <a:rPr lang="en-US" sz="2400" dirty="0" err="1"/>
              <a:t>GreenQR</a:t>
            </a:r>
            <a:r>
              <a:rPr lang="en-US" sz="2400" dirty="0"/>
              <a:t> Smart Tree Information System more efficient?</a:t>
            </a:r>
            <a:endParaRPr lang="en-IN" sz="240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0726885-EA75-2A63-0B8E-48281122BC3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2B0B7A6-FFAF-15BB-F3D6-0B107B5F224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45601"/>
            <a:ext cx="547871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260CF74-589F-0924-7BCF-7E2823B6C2E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</a:t>
            </a: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F35C78B-9F87-F464-123B-A704345802F8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267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</a:t>
            </a: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Green QR: Smart Information System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Title</a:t>
            </a:r>
            <a:r>
              <a:rPr lang="en-IN" spc="-110" dirty="0"/>
              <a:t> </a:t>
            </a:r>
            <a:r>
              <a:rPr lang="en-IN" spc="-10" dirty="0"/>
              <a:t>Justification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454EEAF-5360-14AE-1EE9-008D196F1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1" y="1600200"/>
            <a:ext cx="11355114" cy="3754874"/>
          </a:xfrm>
        </p:spPr>
        <p:txBody>
          <a:bodyPr/>
          <a:lstStyle/>
          <a:p>
            <a:r>
              <a:rPr lang="en-US" sz="2400" dirty="0"/>
              <a:t>The title </a:t>
            </a:r>
            <a:r>
              <a:rPr lang="en-US" sz="2400" i="1" dirty="0"/>
              <a:t>“</a:t>
            </a:r>
            <a:r>
              <a:rPr lang="en-US" sz="2400" b="1" i="1" dirty="0"/>
              <a:t>Green QR: Smart Tree Information System</a:t>
            </a:r>
            <a:r>
              <a:rPr lang="en-US" sz="2400" i="1" dirty="0"/>
              <a:t>”</a:t>
            </a:r>
            <a:r>
              <a:rPr lang="en-US" sz="2400" dirty="0"/>
              <a:t> reflects the core idea of the project</a:t>
            </a:r>
            <a:br>
              <a:rPr lang="en-US" sz="2400" dirty="0"/>
            </a:br>
            <a:r>
              <a:rPr lang="en-US" sz="2400" dirty="0"/>
              <a:t>using QR codes to provide verified, structured, and app-secured information about every tree.</a:t>
            </a:r>
          </a:p>
          <a:p>
            <a:endParaRPr lang="en-US" sz="2400" dirty="0"/>
          </a:p>
          <a:p>
            <a:r>
              <a:rPr lang="en-US" sz="2400" dirty="0"/>
              <a:t>It highlights: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Green</a:t>
            </a:r>
            <a:r>
              <a:rPr lang="en-US" sz="2400" dirty="0"/>
              <a:t> → Represents trees, environment, sustainability.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QR</a:t>
            </a:r>
            <a:r>
              <a:rPr lang="en-US" sz="2400" dirty="0"/>
              <a:t> → Technology used to uniquely identify each tree.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Smart Information System</a:t>
            </a:r>
            <a:r>
              <a:rPr lang="en-US" sz="2400" dirty="0"/>
              <a:t> → Indicates the digital, secure, app-based data retrieval method</a:t>
            </a:r>
            <a:r>
              <a:rPr lang="en-US" sz="2000" dirty="0"/>
              <a:t>.</a:t>
            </a:r>
          </a:p>
          <a:p>
            <a:endParaRPr lang="en-IN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45601"/>
            <a:ext cx="547871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" y="-18338"/>
            <a:ext cx="1219176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787" y="989990"/>
            <a:ext cx="9460230" cy="5734903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Abstract</a:t>
            </a:r>
            <a:endParaRPr kumimoji="0" lang="en-IN" sz="28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lang="en-IN" sz="2800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Introduction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Literature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survey</a:t>
            </a:r>
            <a:endParaRPr lang="en-IN" sz="2800" kern="0" spc="-25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kumimoji="0" lang="en-IN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Existing System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Proposed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lang="en-IN" sz="280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System</a:t>
            </a: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kumimoji="0" lang="en-IN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Planning</a:t>
            </a: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lang="en-IN" sz="2800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Design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endParaRPr kumimoji="0" lang="en-IN" sz="2800" b="0" i="0" u="none" strike="noStrike" kern="0" cap="none" spc="-2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kumimoji="0" lang="en-IN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Implementation</a:t>
            </a: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lang="en-IN" sz="2800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Research Paper</a:t>
            </a:r>
            <a:endParaRPr kumimoji="0" lang="en-IN" sz="2800" b="0" i="0" u="none" strike="noStrike" kern="0" cap="none" spc="-2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References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421005" marR="0" lvl="0" indent="-408305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2100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GitHub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Link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-18339"/>
            <a:ext cx="12192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209958"/>
            <a:ext cx="12192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3116" y="6629197"/>
            <a:ext cx="52654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031" y="989990"/>
            <a:ext cx="11747109" cy="5182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Green QR Smart Tree Information System raises environmental awareness by providing digital details of campus trees via QR codes.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traditional, non-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management with a real-time, interactive system for monitoring and public access.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tree is assigned a unique QR code linked to a central database with species, location, oxygen output, medicinal uses, and other details.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efficiently add, manage, and track trees, while users quickly scan QR codes for verified information.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promotes transparency, engagement, and campus sustainability by making tree data easily accessible on mobile devices.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8471C-8D86-FF0D-5C29-998E3524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EC9C4A-A958-8BF5-3FCE-0E85CD072DFA}"/>
              </a:ext>
            </a:extLst>
          </p:cNvPr>
          <p:cNvSpPr txBox="1"/>
          <p:nvPr/>
        </p:nvSpPr>
        <p:spPr>
          <a:xfrm>
            <a:off x="0" y="-18339"/>
            <a:ext cx="12192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5403B46-8844-ADAC-4109-EBAF542E53C9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C5FF6E0-947F-001E-DCE0-567D5F72D5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6B08B6-256E-C134-B109-EA49C42C7EDE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D69CE28-1E3B-90E2-FC49-3B1B7DB166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09958"/>
            <a:ext cx="12192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Introduction</a:t>
            </a:r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9DC9F2E-3229-A2F9-A100-E0A6D7DBDFA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758A6BD-C848-BDBB-B4AC-2FA4CD4E5A1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9393350-867E-4EEC-1A9E-18B5F29E9E98}"/>
              </a:ext>
            </a:extLst>
          </p:cNvPr>
          <p:cNvSpPr txBox="1"/>
          <p:nvPr/>
        </p:nvSpPr>
        <p:spPr>
          <a:xfrm>
            <a:off x="6393116" y="6629197"/>
            <a:ext cx="52654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D54A065-CB75-C4EF-4636-74FBFB6FD4F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9F58BB7-6197-9E1E-B902-F81AFFC66085}"/>
              </a:ext>
            </a:extLst>
          </p:cNvPr>
          <p:cNvSpPr txBox="1"/>
          <p:nvPr/>
        </p:nvSpPr>
        <p:spPr>
          <a:xfrm>
            <a:off x="373626" y="1514168"/>
            <a:ext cx="11419620" cy="4463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GreenQR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 digital platform designed to bridge the gap between technology and nature by creating a "Digital Identity" for campus trees.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replaces traditional, static tree nameplates with an interactive QR-code-based interface that provides instant access to botanical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Admin Dashboard allows for centralized management, enabling authorities to add, update, and track tree records in real-time.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tree is meticulously documented with its scientific name, medicinal properties, and estimated oxygen contribution to promote environmental awareness.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features like searchable databases and tree health monitoring, the system ensures transparency and efficient campus biodiversity management.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Ultimately, this project fosters sustainability by making complex environmental data easily accessible to students and visitors through their smartphones.</a:t>
            </a:r>
          </a:p>
        </p:txBody>
      </p:sp>
    </p:spTree>
    <p:extLst>
      <p:ext uri="{BB962C8B-B14F-4D97-AF65-F5344CB8AC3E}">
        <p14:creationId xmlns:p14="http://schemas.microsoft.com/office/powerpoint/2010/main" val="1795494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36D65-CD0C-0FF9-20D8-47C59547C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463F45-407D-3F31-5DF3-EBEA1C3C737A}"/>
              </a:ext>
            </a:extLst>
          </p:cNvPr>
          <p:cNvSpPr txBox="1"/>
          <p:nvPr/>
        </p:nvSpPr>
        <p:spPr>
          <a:xfrm>
            <a:off x="0" y="-18339"/>
            <a:ext cx="121920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FF89715-E74F-6103-990E-5FDC0F8E0308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ED8A849-70E0-FF8B-1F3E-A0CBFB5DAD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1F86454-FFAC-870C-382F-3D81DC061042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562DA99-80B3-D92B-CC51-5425412D6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09958"/>
            <a:ext cx="12192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defTabSz="91440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tabLst>
                <a:tab pos="421005" algn="l"/>
              </a:tabLst>
              <a:defRPr/>
            </a:pPr>
            <a:r>
              <a:rPr lang="en-IN" dirty="0"/>
              <a:t>Literature</a:t>
            </a:r>
            <a:r>
              <a:rPr lang="en-IN" spc="-35" dirty="0"/>
              <a:t> </a:t>
            </a:r>
            <a:r>
              <a:rPr lang="en-IN" dirty="0"/>
              <a:t>survey</a:t>
            </a:r>
            <a:endParaRPr lang="en-IN" spc="-25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CABA91B-D01D-2BC2-724D-705D66A9184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B2F009F-4A4B-1757-C3CD-CA4C095E52E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1B3D071-225E-C3E9-2473-D575B6417476}"/>
              </a:ext>
            </a:extLst>
          </p:cNvPr>
          <p:cNvSpPr txBox="1"/>
          <p:nvPr/>
        </p:nvSpPr>
        <p:spPr>
          <a:xfrm>
            <a:off x="6393116" y="6629197"/>
            <a:ext cx="52654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24F7739-4533-CC12-BF2C-C1A6479E463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12" name="table">
            <a:extLst>
              <a:ext uri="{FF2B5EF4-FFF2-40B4-BE49-F238E27FC236}">
                <a16:creationId xmlns:a16="http://schemas.microsoft.com/office/drawing/2014/main" id="{9E5B35DB-600F-F09E-1742-9AB0565F5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31" y="1056594"/>
            <a:ext cx="11515386" cy="517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35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" y="-18340"/>
            <a:ext cx="12191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1019880"/>
            <a:ext cx="11488446" cy="60354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records are managed through manual paper registers or basic spreadsheets, leading to disorganized data and slow retrieval.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relies on static physical nameplates, which offer very limited information and no interactive features for students.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signage suffers from physical degradation like rusting, fading, and weathering, requiring high maintenance costs.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information on medicinal uses and oxygen contribution is not accessible on-site and requires manual research in textbooks.</a:t>
            </a:r>
          </a:p>
          <a:p>
            <a:pPr algn="just"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 no centralized monitoring system to track tree health or total counts, making campus biodiversity management inefficient.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12700" marR="5080" lvl="0" indent="0" algn="just" defTabSz="91440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None/>
              <a:tabLst>
                <a:tab pos="505459" algn="l"/>
              </a:tabLst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 err="1"/>
              <a:t>Exisiting</a:t>
            </a:r>
            <a:r>
              <a:rPr dirty="0"/>
              <a:t>	</a:t>
            </a:r>
            <a:r>
              <a:rPr spc="-10" dirty="0"/>
              <a:t>System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4400" y="6628182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B3A7-E6E3-105D-EF2F-D82C2980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132E7C-A184-5CBA-561F-BDC04554863E}"/>
              </a:ext>
            </a:extLst>
          </p:cNvPr>
          <p:cNvSpPr txBox="1"/>
          <p:nvPr/>
        </p:nvSpPr>
        <p:spPr>
          <a:xfrm>
            <a:off x="-1" y="-18340"/>
            <a:ext cx="12191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53C877-9FB2-51A7-7D5D-DB1F07CB8E55}"/>
              </a:ext>
            </a:extLst>
          </p:cNvPr>
          <p:cNvSpPr txBox="1"/>
          <p:nvPr/>
        </p:nvSpPr>
        <p:spPr>
          <a:xfrm>
            <a:off x="304800" y="1019880"/>
            <a:ext cx="11488446" cy="541686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 Firebase Cloud backend to provide admins with a real-time dashboard for managing tree records and oxygen contribution data.</a:t>
            </a:r>
          </a:p>
          <a:p>
            <a:pPr marL="342900" indent="-342900" algn="just">
              <a:buFont typeface="Wingdings" panose="05000000000000000000" pitchFamily="2" charset="2"/>
              <a:buChar char="v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digitising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botanical information, the platform promotes environmental awareness and ensures efficient, transparent management of campus biodiversity for all users.</a:t>
            </a:r>
          </a:p>
          <a:p>
            <a:pPr algn="just"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Admin Dashboard (Android Studio – Java/Kotlin)</a:t>
            </a:r>
          </a:p>
          <a:p>
            <a:pPr algn="just"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To manage the campus botanical database and monitor tree health in real-time</a:t>
            </a:r>
          </a:p>
          <a:p>
            <a:pPr algn="just"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Email-based login for admin access using Firebase Authentication.</a:t>
            </a:r>
          </a:p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Tools to add, edit, and delete tree records like scientific names and locations.</a:t>
            </a:r>
          </a:p>
          <a:p>
            <a:pPr algn="just"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 live "Total Trees" counter that updates automatically as the database changes.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             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F17E50D-6B80-3C52-8C9E-7DD58F38ABCB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CB31DD6-DF70-9CBA-F549-874E1B95B0D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49418FC-01BD-EC3B-9A65-7144CA436196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3B28B5F-F9AB-2506-3556-E563E29A29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C58D9BF-1056-F416-37F9-880A3402D8F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1F51192-CC5B-305A-2629-D579BBF1A1A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8182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2E4CE4E-137D-CA0C-4375-24268D9A2134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EE5BF54-2DAB-9601-E959-DDEA7308220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25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t>0</a:t>
            </a: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9999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123FE-7914-C770-CEA4-BC357C9E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CF7CE5-F5D4-40C9-4A83-ED4C1F70AEF1}"/>
              </a:ext>
            </a:extLst>
          </p:cNvPr>
          <p:cNvSpPr txBox="1"/>
          <p:nvPr/>
        </p:nvSpPr>
        <p:spPr>
          <a:xfrm>
            <a:off x="-1" y="-18340"/>
            <a:ext cx="12191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9BC8B2D-F4C8-0864-88AD-F359C90CF1E0}"/>
              </a:ext>
            </a:extLst>
          </p:cNvPr>
          <p:cNvSpPr txBox="1"/>
          <p:nvPr/>
        </p:nvSpPr>
        <p:spPr>
          <a:xfrm>
            <a:off x="304800" y="1019880"/>
            <a:ext cx="11488446" cy="629403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just">
              <a:defRPr/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Mobile Application &amp; QR Interface (Android Studio – Java/Kotlin)</a:t>
            </a:r>
          </a:p>
          <a:p>
            <a:pPr algn="just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defRPr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To provide a user-friendly interface for students and visitors to interact with nature.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algn="just">
              <a:defRPr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Unique QR IDs linked to specific digital tree profiles for instant mapping.</a:t>
            </a:r>
          </a:p>
          <a:p>
            <a:pPr algn="just">
              <a:defRPr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Direct access to medicinal uses, oxygen levels, and physical height data.</a:t>
            </a:r>
          </a:p>
          <a:p>
            <a:pPr algn="just">
              <a:defRPr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Search functionality to find trees by name, ID, or location, like "C Block Front.“</a:t>
            </a:r>
          </a:p>
          <a:p>
            <a:pPr algn="just">
              <a:defRPr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Cloud Backend &amp; Data Management (Firebase)</a:t>
            </a:r>
          </a:p>
          <a:p>
            <a:pPr algn="just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To ensure secure data storage and instant synchronization across devices.</a:t>
            </a:r>
            <a:b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 algn="just"/>
            <a:r>
              <a:rPr lang="en-US" sz="23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database for storing tree IDs, botanical data, and timestamps.</a:t>
            </a:r>
          </a:p>
          <a:p>
            <a:pPr algn="just">
              <a:defRPr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Cloud storage for hosting high-quality tree photos in the "All Trees" section        </a:t>
            </a:r>
          </a:p>
          <a:p>
            <a:pPr algn="just">
              <a:defRPr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Secure sign-in protocols and role-based access control for administrators.</a:t>
            </a:r>
          </a:p>
          <a:p>
            <a:pPr algn="just"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             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ABB08AD-DA71-6ECB-885C-D527DB0738F6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AE6BFC7-2E18-DDA1-079A-D9062A3A0FB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99DF922-ED7E-69F0-63C4-C2CA38BFB4F2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1335425C-8F0B-FBD8-8A22-340182D20A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4" y="182323"/>
            <a:ext cx="1004436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  <a:r>
              <a:rPr lang="en-IN" spc="-10" dirty="0"/>
              <a:t> </a:t>
            </a:r>
            <a:r>
              <a:rPr lang="en-IN" spc="-10" dirty="0" err="1"/>
              <a:t>cont</a:t>
            </a:r>
            <a:r>
              <a:rPr lang="en-IN" spc="-10" dirty="0"/>
              <a:t>… 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9B73E6F-FC6C-AD18-805B-EA974316544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E576D65-BD92-7F46-0B20-1061D196988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8182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3FAEEF7-89A1-29DF-4680-51B85989F4CB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A9B3F6E-68DE-D3EF-03BA-CE28871772E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6643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AC8A-2601-9817-47B7-65700220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1497FA9-8474-35D2-36D1-35A7BFB5D9DD}"/>
              </a:ext>
            </a:extLst>
          </p:cNvPr>
          <p:cNvSpPr txBox="1"/>
          <p:nvPr/>
        </p:nvSpPr>
        <p:spPr>
          <a:xfrm>
            <a:off x="-1" y="-18340"/>
            <a:ext cx="12191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C632388-41E2-12CC-B055-310DEC67FF58}"/>
              </a:ext>
            </a:extLst>
          </p:cNvPr>
          <p:cNvSpPr txBox="1"/>
          <p:nvPr/>
        </p:nvSpPr>
        <p:spPr>
          <a:xfrm>
            <a:off x="304800" y="1019880"/>
            <a:ext cx="11488446" cy="569386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algn="just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Testing and Quality Assurance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Individual components (UI, Java/Kotlin classes, Firebase triggers) are tested for functionality.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integrated system undergoes testing to ensure smooth interaction between the App and Cloud.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Validation: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Verifies that each unique ID correctly maps to its specific tree profile in the database.</a:t>
            </a:r>
          </a:p>
          <a:p>
            <a:pPr marL="342900" indent="-342900" algn="just">
              <a:buFont typeface="Courier New" panose="02070309020205020404" pitchFamily="49" charset="0"/>
              <a:buChar char="o"/>
              <a:defRPr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Deployment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Deployment: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application is built as an APK for easy campus-wide installation.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backend (Firebase) is deployed on cloud servers for high scalability and availability.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             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5F4EB92-E661-B188-64E8-FB76FAD96813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7C3EE17-151C-5DB8-B143-4542AA0932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EDCF4F3-AA52-18F1-9F50-0E3CA9D91535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DB85752F-12F6-E58A-BF93-A93F9E522B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363052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  <a:r>
              <a:rPr lang="en-IN" spc="-10" dirty="0"/>
              <a:t> </a:t>
            </a:r>
            <a:r>
              <a:rPr lang="en-IN" spc="-10" dirty="0" err="1"/>
              <a:t>cont</a:t>
            </a:r>
            <a:r>
              <a:rPr lang="en-IN" spc="-10" dirty="0"/>
              <a:t>…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74D12A7-9C08-50D5-8818-36226DE822A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252CC7C-5878-0B19-8914-CA341424353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8182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F1D6726-9B65-8571-CECE-254DAD24AE4D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F5F5DCE-322E-E6D5-5C7C-3529D77D5E3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2273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457C-68C0-7243-BA30-B3471364C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5D875B-2F84-4442-8699-99508061AD53}"/>
              </a:ext>
            </a:extLst>
          </p:cNvPr>
          <p:cNvSpPr txBox="1"/>
          <p:nvPr/>
        </p:nvSpPr>
        <p:spPr>
          <a:xfrm>
            <a:off x="-1" y="-18340"/>
            <a:ext cx="12191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14E750F-2305-3C67-A138-C069F3388DE9}"/>
              </a:ext>
            </a:extLst>
          </p:cNvPr>
          <p:cNvSpPr txBox="1"/>
          <p:nvPr/>
        </p:nvSpPr>
        <p:spPr>
          <a:xfrm>
            <a:off x="505813" y="835501"/>
            <a:ext cx="11287432" cy="606319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endParaRPr lang="en-US" dirty="0"/>
          </a:p>
          <a:p>
            <a:pPr algn="just"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for administrators using Firebase to manage tree records and system settings.</a:t>
            </a:r>
          </a:p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to add and delete tree records like scientific names, locations, and oxygen levels.</a:t>
            </a:r>
          </a:p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scanner to instantly fetch and display digital tree profiles from the cloud database.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             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A40B11CF-2DA7-9649-BEA0-16CFE5D6CB84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73806CC-BCFE-38CD-8EAD-5A55879397D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4CB724B-81D4-D0D6-D2AA-8357CA4AF192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093B77C-E6C1-059F-AC09-42D7F1291B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Planning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8E1D392-E6E9-C0C2-5C88-0D287BE0928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BE06C19-11FD-3026-3385-048B2B45987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8182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C279DD8-30FB-7187-2A04-7AD40B816485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48D8CFF-A3CC-6C99-C843-F4C3B38175A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498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A232-693A-2FC5-4990-E75FF49B3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67FC90-635F-42E8-BAEB-912394AB8259}"/>
              </a:ext>
            </a:extLst>
          </p:cNvPr>
          <p:cNvSpPr txBox="1"/>
          <p:nvPr/>
        </p:nvSpPr>
        <p:spPr>
          <a:xfrm>
            <a:off x="-1" y="-18340"/>
            <a:ext cx="12191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ABAE66E-1A41-17DB-9B26-DBA544A9E99C}"/>
              </a:ext>
            </a:extLst>
          </p:cNvPr>
          <p:cNvSpPr txBox="1"/>
          <p:nvPr/>
        </p:nvSpPr>
        <p:spPr>
          <a:xfrm>
            <a:off x="505813" y="835501"/>
            <a:ext cx="11287432" cy="89255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              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F34B186-E138-4F3F-A85E-00F147F92515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4A05321-B18F-4411-991B-C843A4F3628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234FD38-3A34-4039-0F28-46FDB17E2B0D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95D4A4AD-1E76-0792-9702-0B45CFD9AF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44171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Planning – Development Stage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A48646A-8A80-3980-271C-BFEFD19112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1E309D0-5280-FD40-F9EE-42CCA6094AC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8182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    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5427078-E0A6-D081-6C5E-75DFF98BCE5C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 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4269CCC-1C2D-7D02-526D-F3BE75F6771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cs typeface="Times New Roman"/>
              </a:rPr>
              <a:pPr marL="12700" marR="0" lvl="0" indent="0" defTabSz="91440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37F664-D4F4-DA2E-A821-1F278242D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73" y="1254940"/>
            <a:ext cx="9714271" cy="498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59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E7AD7-F92C-0095-3F80-E48FB23E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D41A1C52-A2AB-6D2B-6DA4-36CA723DA1EB}"/>
              </a:ext>
            </a:extLst>
          </p:cNvPr>
          <p:cNvGrpSpPr/>
          <p:nvPr/>
        </p:nvGrpSpPr>
        <p:grpSpPr>
          <a:xfrm>
            <a:off x="0" y="20171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0DDC205-47B3-86DA-89F0-746A98D74BE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1EA5D6D-0F37-BF1A-20AB-75F36DBDB947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E2D16770-FADC-601D-1B95-A7E7006D89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230164"/>
            <a:ext cx="12191999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Design – Use Case Diagram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202883D-D3BA-D25A-D36F-D5A256249B5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4" y="6629427"/>
            <a:ext cx="39875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fld id="{81D60167-4931-47E6-BA6A-407CBD079E47}" type="slidenum">
              <a:rPr kumimoji="0" lang="en-IN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cs typeface="Times New Roman"/>
                <a:sym typeface="Arial" panose="020B0604020202020204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t>14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Arial" panose="020B0604020202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D0198A-05E3-CE6B-9C87-055A8979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3777"/>
            <a:ext cx="11319641" cy="5048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BF6F95-D06E-D089-3FE3-01FDE0C074FF}"/>
              </a:ext>
            </a:extLst>
          </p:cNvPr>
          <p:cNvSpPr txBox="1"/>
          <p:nvPr/>
        </p:nvSpPr>
        <p:spPr>
          <a:xfrm>
            <a:off x="2715768" y="6163056"/>
            <a:ext cx="5596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Fig1: Use case diagram for the User and Admin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8204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55E56-3BB2-49BD-EB58-6C8AE78B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C5DFE283-FE15-456B-DF1D-AA7D6F39F7C9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3B79B73-A62D-7703-9C2F-ECB40C805A5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E03FD72-9D4F-4442-22CA-FF5CDD4FA245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DDB7DBF2-E87E-01F1-3C2B-3CC9AE3A1E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53274"/>
            <a:ext cx="12192000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Design – Class Diagram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DEA3601-53E5-2E1A-E24E-529A6D91F1C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fld id="{81D60167-4931-47E6-BA6A-407CBD079E47}" type="slidenum">
              <a:rPr kumimoji="0" lang="en-IN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cs typeface="Times New Roman"/>
                <a:sym typeface="Arial" panose="020B0604020202020204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t>15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Arial" panose="020B0604020202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D70D3D-7F52-9D62-CE07-22BF0DA22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6080"/>
            <a:ext cx="11908221" cy="47971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0566CC-404E-01B6-41AA-05A644B798FF}"/>
              </a:ext>
            </a:extLst>
          </p:cNvPr>
          <p:cNvSpPr txBox="1"/>
          <p:nvPr/>
        </p:nvSpPr>
        <p:spPr>
          <a:xfrm>
            <a:off x="4796264" y="5849441"/>
            <a:ext cx="4643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Fig 2:System Overview</a:t>
            </a:r>
          </a:p>
        </p:txBody>
      </p:sp>
    </p:spTree>
    <p:extLst>
      <p:ext uri="{BB962C8B-B14F-4D97-AF65-F5344CB8AC3E}">
        <p14:creationId xmlns:p14="http://schemas.microsoft.com/office/powerpoint/2010/main" val="156291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8641-B8E9-72ED-78BF-5AF92217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8157C982-F3AE-4BAB-CC40-C8E0F53D586F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FF18A91-6A89-ED02-7E6E-CCC61856D1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95F5141-3A14-46D9-1DFD-30B1BAB63859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0BE3AD5-863B-A1B1-7E90-02665977D5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53274"/>
            <a:ext cx="12192000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Design – Activity Diagram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691BFDB-E1AA-5927-0E13-9356F9C1E3B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fld id="{81D60167-4931-47E6-BA6A-407CBD079E47}" type="slidenum">
              <a:rPr kumimoji="0" lang="en-IN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cs typeface="Times New Roman"/>
                <a:sym typeface="Arial" panose="020B0604020202020204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t>16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Arial" panose="020B0604020202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26080C-152A-59F9-C819-42F973A9D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6030"/>
            <a:ext cx="11524593" cy="5064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658F8D-B08F-9CF8-CD81-E1F5FD176B01}"/>
              </a:ext>
            </a:extLst>
          </p:cNvPr>
          <p:cNvSpPr txBox="1"/>
          <p:nvPr/>
        </p:nvSpPr>
        <p:spPr>
          <a:xfrm>
            <a:off x="3488492" y="6028878"/>
            <a:ext cx="6250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Fig 3: Activity Diagram for Tree Management (Admin)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07991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EB1E-6B29-4314-9C66-4A9841DB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CB773650-0C64-477C-C263-D9AEF48A384B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23CD221-89C8-2D12-47C4-C0EBA621664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5A5C426-B29C-B787-837C-6D1E712A71D9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7140847-A8BF-6E74-17EE-17DAFD63FB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53274"/>
            <a:ext cx="12192000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Design – Sequence Diagram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5714A80-BEC7-4EE7-6A26-C78318F79D6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fld id="{81D60167-4931-47E6-BA6A-407CBD079E47}" type="slidenum">
              <a:rPr kumimoji="0" lang="en-IN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cs typeface="Times New Roman"/>
                <a:sym typeface="Arial" panose="020B0604020202020204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t>17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Arial" panose="020B0604020202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2B8AD1-6E62-7E7E-720D-CC6E4DF4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879"/>
            <a:ext cx="11508828" cy="47975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D32728-6ACE-B989-3C81-267DD02476CE}"/>
              </a:ext>
            </a:extLst>
          </p:cNvPr>
          <p:cNvSpPr txBox="1"/>
          <p:nvPr/>
        </p:nvSpPr>
        <p:spPr>
          <a:xfrm>
            <a:off x="2971800" y="5916168"/>
            <a:ext cx="6787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Fig 4: Sequence Diagram focusing on the "Scan QR Code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83295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51A02-4A02-47F5-95AF-B79A1E6A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576619EB-A2A4-6E9B-434C-1F2A3A9F03AD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3372933-0843-5CE8-5AB9-22C4875D5F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60D2772-681D-F7E4-6EAF-F3AD45DD4987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C8A207FA-2478-BED8-B5BF-129A184DDF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53274"/>
            <a:ext cx="12192000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Design – Collaboration Diagram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07BE03F-E7FB-FC00-EF5B-5509C82911B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fld id="{81D60167-4931-47E6-BA6A-407CBD079E47}" type="slidenum">
              <a:rPr kumimoji="0" lang="en-IN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cs typeface="Times New Roman"/>
                <a:sym typeface="Arial" panose="020B0604020202020204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t>18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Arial" panose="020B0604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76550-AC1C-D2A8-BC96-7E18A70AC2DA}"/>
              </a:ext>
            </a:extLst>
          </p:cNvPr>
          <p:cNvSpPr txBox="1"/>
          <p:nvPr/>
        </p:nvSpPr>
        <p:spPr>
          <a:xfrm>
            <a:off x="3325049" y="6014490"/>
            <a:ext cx="5541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Fig 5: </a:t>
            </a:r>
            <a:r>
              <a:rPr lang="en-IN" sz="2000" dirty="0" err="1"/>
              <a:t>GreenQR</a:t>
            </a:r>
            <a:r>
              <a:rPr lang="en-IN" sz="2000" dirty="0"/>
              <a:t> System Collaboration Diagram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5A1DE5-E65B-6311-089D-942A47CD0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03" y="938588"/>
            <a:ext cx="7466371" cy="497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7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EF757-F641-3547-EB42-8B86D98D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4F17C907-C885-371B-9F02-E2EDBC99DC55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A48F6C0-DBE0-51E8-09F5-746CC038700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12C1E4A-78A2-DDBC-ACAE-21D02B2C1543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4390F00-01AA-2596-9A00-036B6B3C28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53274"/>
            <a:ext cx="12192000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Implementation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EF5E3AB-AD0F-5F58-EA88-CE0A69B5D21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fld id="{81D60167-4931-47E6-BA6A-407CBD079E47}" type="slidenum">
              <a:rPr kumimoji="0" lang="en-IN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cs typeface="Times New Roman"/>
                <a:sym typeface="Arial" panose="020B0604020202020204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t>19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Arial" panose="020B0604020202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2BB2CF-0812-DB3B-0E8D-C55D0DFAD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0" y="1154068"/>
            <a:ext cx="5830529" cy="25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6443C5-5AF5-B411-EA8F-50631C468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319" y="1154068"/>
            <a:ext cx="5830528" cy="25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ABDD7A-BB22-F270-885B-B461282222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0" y="3808256"/>
            <a:ext cx="5830529" cy="25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449F98-30E6-B89A-D147-58188FC91E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319" y="3808256"/>
            <a:ext cx="5830526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24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D3A9-54BC-A5F2-47AE-1AC116BE9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4CB2D47F-17C5-E296-3B39-7955DBD882C3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B7FE4A63-8520-B52B-3F88-D45673181F2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D84B10F-9B30-4294-C4A6-BA7AD388B05D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6F5F1E2-6B5A-6C3E-7ED2-8334140741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53274"/>
            <a:ext cx="12192000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Outputs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E124D3B-2BCE-C001-CF61-78113AA985F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fld id="{81D60167-4931-47E6-BA6A-407CBD079E47}" type="slidenum">
              <a:rPr kumimoji="0" lang="en-IN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cs typeface="Times New Roman"/>
                <a:sym typeface="Arial" panose="020B0604020202020204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t>20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Arial" panose="020B0604020202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B8F08-476B-052F-EF78-9170B3180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59" y="1036080"/>
            <a:ext cx="2676609" cy="50304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F311E9-2EC6-2174-E1D0-A9B7107EF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335" y="1019880"/>
            <a:ext cx="2676609" cy="5029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BA4531-5D7C-4207-E631-CF17F81B7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879" y="1037303"/>
            <a:ext cx="2678400" cy="5029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DF433C-3630-F6C1-0C0D-002EFAB623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0055" y="1019880"/>
            <a:ext cx="2676609" cy="5029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F3D30D3-089C-AA5E-4C37-55BE1F9E3E49}"/>
              </a:ext>
            </a:extLst>
          </p:cNvPr>
          <p:cNvSpPr txBox="1"/>
          <p:nvPr/>
        </p:nvSpPr>
        <p:spPr>
          <a:xfrm>
            <a:off x="334313" y="6204616"/>
            <a:ext cx="1196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App Icon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E43C63-8850-E878-BCFA-2FD1CDCD3ED4}"/>
              </a:ext>
            </a:extLst>
          </p:cNvPr>
          <p:cNvSpPr txBox="1"/>
          <p:nvPr/>
        </p:nvSpPr>
        <p:spPr>
          <a:xfrm>
            <a:off x="3049335" y="6204616"/>
            <a:ext cx="2676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IN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Admin Dashboard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47737B-14CA-B25A-2003-2D5E3C83293C}"/>
              </a:ext>
            </a:extLst>
          </p:cNvPr>
          <p:cNvSpPr txBox="1"/>
          <p:nvPr/>
        </p:nvSpPr>
        <p:spPr>
          <a:xfrm>
            <a:off x="6861676" y="6204616"/>
            <a:ext cx="1148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Scanner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D0E8CD-F587-F663-5C65-171E24003D1F}"/>
              </a:ext>
            </a:extLst>
          </p:cNvPr>
          <p:cNvSpPr txBox="1"/>
          <p:nvPr/>
        </p:nvSpPr>
        <p:spPr>
          <a:xfrm>
            <a:off x="9146213" y="6176519"/>
            <a:ext cx="2263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IN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Adding Tree details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91992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3646-9380-00D6-CA1E-481BF91F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DED8F457-6AE1-A270-D92D-6110ED7E4716}"/>
              </a:ext>
            </a:extLst>
          </p:cNvPr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0B426D5-655D-9238-F236-E4EA324D4FC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65C61CF-80C3-6E57-EDEB-D81F78F7EF3D}"/>
                </a:ext>
              </a:extLst>
            </p:cNvPr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0687C829-142B-E958-5484-C940EF28D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53274"/>
            <a:ext cx="12192000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lang="en-IN" spc="-10" dirty="0"/>
              <a:t>Outputs </a:t>
            </a:r>
            <a:r>
              <a:rPr lang="en-IN" spc="-10" dirty="0" err="1"/>
              <a:t>cont</a:t>
            </a:r>
            <a:r>
              <a:rPr lang="en-IN" spc="-10" dirty="0"/>
              <a:t>…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3005EEC-A5EB-7734-7105-643F7271117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fld id="{81D60167-4931-47E6-BA6A-407CBD079E47}" type="slidenum">
              <a:rPr kumimoji="0" lang="en-IN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Times New Roman"/>
                <a:cs typeface="Times New Roman"/>
                <a:sym typeface="Arial" panose="020B0604020202020204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t>21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Arial" panose="020B060402020202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B45D2-0CBA-8358-4D54-78CB8136D399}"/>
              </a:ext>
            </a:extLst>
          </p:cNvPr>
          <p:cNvSpPr txBox="1"/>
          <p:nvPr/>
        </p:nvSpPr>
        <p:spPr>
          <a:xfrm>
            <a:off x="334313" y="6204616"/>
            <a:ext cx="2581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IN" sz="2000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Showing Tree </a:t>
            </a:r>
            <a:r>
              <a:rPr lang="en-IN" sz="2000" kern="0" dirty="0" err="1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deatils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8F33CF-E0EC-5906-4319-8A1AD902339D}"/>
              </a:ext>
            </a:extLst>
          </p:cNvPr>
          <p:cNvSpPr txBox="1"/>
          <p:nvPr/>
        </p:nvSpPr>
        <p:spPr>
          <a:xfrm>
            <a:off x="4882035" y="6204616"/>
            <a:ext cx="1996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IN" kern="0" dirty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User Dashboard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F7B9A2-B3BC-AB65-89C9-2FA0E1D99F74}"/>
              </a:ext>
            </a:extLst>
          </p:cNvPr>
          <p:cNvSpPr txBox="1"/>
          <p:nvPr/>
        </p:nvSpPr>
        <p:spPr>
          <a:xfrm>
            <a:off x="9039704" y="6204616"/>
            <a:ext cx="2263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Feedback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15DBD-FAB7-971C-2599-DDDCAA2F2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5" y="1036080"/>
            <a:ext cx="2895563" cy="501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F45EB6-2AB5-4D84-B152-5CEDD01A3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849" y="976384"/>
            <a:ext cx="2891656" cy="50068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44958C-9735-AD22-FE6A-214EA80F10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526" y="1019879"/>
            <a:ext cx="2891655" cy="496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7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FBF1-F9EE-FBF6-9551-5FA897C4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B78FDB2-D154-CC5C-2FC4-B2D091C5D116}"/>
              </a:ext>
            </a:extLst>
          </p:cNvPr>
          <p:cNvSpPr txBox="1"/>
          <p:nvPr/>
        </p:nvSpPr>
        <p:spPr>
          <a:xfrm>
            <a:off x="-1" y="-18338"/>
            <a:ext cx="1219176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1221EDF-C1C8-CA6B-5F0C-16D91546E541}"/>
              </a:ext>
            </a:extLst>
          </p:cNvPr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3DCBF93-5914-C483-2FB0-5FC94082E4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C805860-A1A7-6638-927F-C700D203A61E}"/>
                </a:ext>
              </a:extLst>
            </p:cNvPr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C709DC6-8024-D394-8DCB-2387B71E7E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Research Paper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54E5AFE-BFAB-0D2F-889B-E8B549672C9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524DB86-0378-9C46-2DF6-FAE8116FE6B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E30F75E-68E0-FD7E-8EC7-7FB6328EF556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3C4DE57-DF18-7E01-0BF9-C5BF1F89435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0065B1-CD73-0591-D696-7ECA0B0A3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086" y="1843333"/>
            <a:ext cx="8549071" cy="478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98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18838-3DE5-3C06-F2B8-D8245B75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54BD97-9C29-9C81-282A-20123BCDA132}"/>
              </a:ext>
            </a:extLst>
          </p:cNvPr>
          <p:cNvSpPr txBox="1"/>
          <p:nvPr/>
        </p:nvSpPr>
        <p:spPr>
          <a:xfrm>
            <a:off x="-1" y="-18338"/>
            <a:ext cx="1219176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CA390F7-AF63-FD54-933B-4A1741A1430C}"/>
              </a:ext>
            </a:extLst>
          </p:cNvPr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A5EC833-7E09-2EF5-553F-6C02830CD01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01BEC22-08B0-4466-5550-C036EA48E641}"/>
                </a:ext>
              </a:extLst>
            </p:cNvPr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111E641-BFE3-C29D-5E0A-A45971220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References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68C79F1-DAF7-EAB1-00DD-49EE7A5A120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EF8C49D-4F84-69DF-52A2-3118B9D04F3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BAB3B04-9635-3298-AB11-DDEBB983CC81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110FDD0-197F-1AA5-8AB0-8EF06CD9C72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9B023CD-90DA-DC68-9181-D2D5D5B10024}"/>
              </a:ext>
            </a:extLst>
          </p:cNvPr>
          <p:cNvSpPr txBox="1"/>
          <p:nvPr/>
        </p:nvSpPr>
        <p:spPr>
          <a:xfrm>
            <a:off x="0" y="1045635"/>
            <a:ext cx="11793245" cy="553484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55600" lvl="0" indent="-342900">
              <a:spcBef>
                <a:spcPts val="665"/>
              </a:spcBef>
              <a:buFont typeface="Arial" panose="020B0604020202020204" pitchFamily="34" charset="0"/>
              <a:buChar char="•"/>
              <a:tabLst>
                <a:tab pos="421005" algn="l"/>
              </a:tabLst>
              <a:defRPr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Syaikhu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Soeryaprawira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M. L.,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Daswara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A., &amp;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Sarungu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M.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Design of QR Code-Based Information System on Plant Identification.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New Media Technology, 2023.</a:t>
            </a:r>
          </a:p>
          <a:p>
            <a:pPr marL="355600" lvl="0" indent="-342900">
              <a:spcBef>
                <a:spcPts val="665"/>
              </a:spcBef>
              <a:buFont typeface="Arial" panose="020B0604020202020204" pitchFamily="34" charset="0"/>
              <a:buChar char="•"/>
              <a:tabLst>
                <a:tab pos="421005" algn="l"/>
              </a:tabLst>
              <a:defRPr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Rani, K., Agrawal, M., Mahla, A., Nagar, K., &amp;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Sehrawat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Digital Botanical Keys: A Scalable QR Code-Based Platform for Plant 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Identification.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Environmental Sciences, 2025. </a:t>
            </a:r>
          </a:p>
          <a:p>
            <a:pPr marL="355600" lvl="0" indent="-342900">
              <a:spcBef>
                <a:spcPts val="665"/>
              </a:spcBef>
              <a:buFont typeface="Arial" panose="020B0604020202020204" pitchFamily="34" charset="0"/>
              <a:buChar char="•"/>
              <a:tabLst>
                <a:tab pos="421005" algn="l"/>
              </a:tabLst>
              <a:defRPr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Suntornmeth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Pisjan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&amp; Bualek, W.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 System of the Tree by Using QR Code Technology.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RMUTL Journal of Business Administration and Liberal Arts, 2017. </a:t>
            </a:r>
          </a:p>
          <a:p>
            <a:pPr marL="355600" lvl="0" indent="-342900">
              <a:spcBef>
                <a:spcPts val="665"/>
              </a:spcBef>
              <a:buFont typeface="Arial" panose="020B0604020202020204" pitchFamily="34" charset="0"/>
              <a:buChar char="•"/>
              <a:tabLst>
                <a:tab pos="421005" algn="l"/>
              </a:tabLst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IRJAEM Journal.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Digitalising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Green: QR Code-Based Plant Accessing System for Awareness and Conservation.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on Advanced Engineering and Management, 2025.</a:t>
            </a:r>
          </a:p>
          <a:p>
            <a:pPr marL="355600" lvl="0" indent="-342900">
              <a:spcBef>
                <a:spcPts val="665"/>
              </a:spcBef>
              <a:buFont typeface="Arial" panose="020B0604020202020204" pitchFamily="34" charset="0"/>
              <a:buChar char="•"/>
              <a:tabLst>
                <a:tab pos="421005" algn="l"/>
              </a:tabLst>
              <a:defRPr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Naga Jyothi, R., Muruga Lakshmi Kumari, R., &amp; Jyothi Mani, V.G.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Trees Using QR Code in College Campus.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Technology and Management Sciences, 2023. </a:t>
            </a:r>
            <a:endParaRPr kumimoji="0" sz="22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586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DBAF4-04F6-B9A2-1839-5A4D8646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28A636E-DE42-A3D8-3518-7B43A2B8C77E}"/>
              </a:ext>
            </a:extLst>
          </p:cNvPr>
          <p:cNvSpPr txBox="1"/>
          <p:nvPr/>
        </p:nvSpPr>
        <p:spPr>
          <a:xfrm>
            <a:off x="-1" y="-18338"/>
            <a:ext cx="1219176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7E6FF0D-29DF-1B4B-9E98-DB27D933E031}"/>
              </a:ext>
            </a:extLst>
          </p:cNvPr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0AFF146-A2E8-F2C3-6875-B08D18CF56D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ECF611-0051-1867-84E4-A343840238EF}"/>
                </a:ext>
              </a:extLst>
            </p:cNvPr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2246DD9-533C-C056-94C1-CDC4A9BB5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1108681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IN" spc="-10" dirty="0" err="1"/>
              <a:t>Github</a:t>
            </a:r>
            <a:r>
              <a:rPr lang="en-IN" spc="-10" dirty="0"/>
              <a:t> Dashboards of each student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DF76C52-A15F-EE67-8DAE-0232F58363C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DD90775-B40A-E36A-FB5E-26350680612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E367E7-CF1E-C742-572B-5CBBF3E44D10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EA3C383-5E2B-2350-83DF-EFFA2B17CF5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35545F-69D6-AFD2-FA01-7DF0D1A5C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t="11278" r="28768"/>
          <a:stretch>
            <a:fillRect/>
          </a:stretch>
        </p:blipFill>
        <p:spPr>
          <a:xfrm>
            <a:off x="466531" y="2506850"/>
            <a:ext cx="10241686" cy="37707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F1F0D5-53F5-C52F-0C4F-86FB55EE927F}"/>
              </a:ext>
            </a:extLst>
          </p:cNvPr>
          <p:cNvSpPr txBox="1"/>
          <p:nvPr/>
        </p:nvSpPr>
        <p:spPr>
          <a:xfrm>
            <a:off x="466530" y="1114873"/>
            <a:ext cx="76279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https://github.com/agraharamchaithanya/CSE-2025-26-Batch-A15/</a:t>
            </a:r>
            <a:endParaRPr lang="en-IN" dirty="0"/>
          </a:p>
          <a:p>
            <a:r>
              <a:rPr lang="en-IN" dirty="0">
                <a:hlinkClick r:id="rId5"/>
              </a:rPr>
              <a:t>https://github.com/LikithKumar2003/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445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06C6-38DC-6210-B312-8E624CB3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BBC1D2-9776-D71B-D5D6-788EDCA9803A}"/>
              </a:ext>
            </a:extLst>
          </p:cNvPr>
          <p:cNvSpPr txBox="1"/>
          <p:nvPr/>
        </p:nvSpPr>
        <p:spPr>
          <a:xfrm>
            <a:off x="-1" y="-18338"/>
            <a:ext cx="1219176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8A0ADE5-01BB-5FC7-34BC-4B1E28AFED2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4459B5C-AC0A-A916-37E0-F00ACEEA613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A4082FD-80DA-D9CA-5528-18E3FE8552DD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E463BE9-60A0-4379-2BC0-3832ED50E54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6E06F-57AF-2C00-C2F5-C3636A72750E}"/>
              </a:ext>
            </a:extLst>
          </p:cNvPr>
          <p:cNvSpPr txBox="1"/>
          <p:nvPr/>
        </p:nvSpPr>
        <p:spPr>
          <a:xfrm>
            <a:off x="-93956" y="2397948"/>
            <a:ext cx="122859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indent="0" algn="ctr">
              <a:buNone/>
            </a:pPr>
            <a:r>
              <a:rPr lang="en-US" sz="12800" i="1" dirty="0">
                <a:ln w="15875"/>
                <a:solidFill>
                  <a:srgbClr val="F78F07"/>
                </a:solidFill>
                <a:effectLst/>
                <a:latin typeface="Verdana" panose="020B0604030504040204" charset="0"/>
                <a:cs typeface="Verdana" panose="020B060403050404020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12370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4FEF1-F855-5158-4175-775B295FC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FDFFBF-2DD3-3B91-909E-2F505D0CE27D}"/>
              </a:ext>
            </a:extLst>
          </p:cNvPr>
          <p:cNvSpPr txBox="1"/>
          <p:nvPr/>
        </p:nvSpPr>
        <p:spPr>
          <a:xfrm>
            <a:off x="-1" y="-18338"/>
            <a:ext cx="1219176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               </a:t>
            </a: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Green QR: Smart Tree Information System</a:t>
            </a:r>
            <a:endParaRPr kumimoji="0" sz="15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1010535-846E-ACEC-D628-3D2B6284AB2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6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15</a:t>
            </a:r>
            <a:endParaRPr kumimoji="0" sz="16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FC264BE-719D-8B8E-9C5F-56445C2F79C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4400" y="6629559"/>
            <a:ext cx="54787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  Department of Computer Science and Engineering</a:t>
            </a:r>
            <a:endParaRPr kumimoji="0" sz="1600" b="0" i="0" u="none" strike="noStrike" kern="0" cap="small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3AB1D16-4081-E46B-F699-F1E829E7E67D}"/>
              </a:ext>
            </a:extLst>
          </p:cNvPr>
          <p:cNvSpPr txBox="1"/>
          <p:nvPr/>
        </p:nvSpPr>
        <p:spPr>
          <a:xfrm>
            <a:off x="6393116" y="6629197"/>
            <a:ext cx="5189283" cy="22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Srinivasa Ramanujan Institute of Technology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657400E-7773-39AF-FBED-F367051DCFA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600" b="1" i="0" u="none" strike="noStrike" kern="0" cap="none" spc="-25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pPr marL="12700" marR="0" lvl="0" indent="0" algn="l" defTabSz="914400" rtl="0" eaLnBrk="1" fontAlgn="auto" latinLnBrk="0" hangingPunct="1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sz="1600" b="1" i="0" u="none" strike="noStrike" kern="0" cap="none" spc="-25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09ADA5-60FA-A7B0-2C63-DF5F2C263A9C}"/>
              </a:ext>
            </a:extLst>
          </p:cNvPr>
          <p:cNvSpPr txBox="1"/>
          <p:nvPr/>
        </p:nvSpPr>
        <p:spPr>
          <a:xfrm>
            <a:off x="-93956" y="2397948"/>
            <a:ext cx="122859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indent="0" algn="ctr">
              <a:buNone/>
            </a:pPr>
            <a:r>
              <a:rPr lang="en-US" sz="12800" i="1" dirty="0">
                <a:ln w="15875"/>
                <a:solidFill>
                  <a:srgbClr val="F78F07"/>
                </a:solidFill>
                <a:latin typeface="Verdana" panose="020B0604030504040204" charset="0"/>
                <a:cs typeface="Verdana" panose="020B0604030504040204" charset="0"/>
              </a:rPr>
              <a:t>Any Queries</a:t>
            </a:r>
          </a:p>
        </p:txBody>
      </p:sp>
    </p:spTree>
    <p:extLst>
      <p:ext uri="{BB962C8B-B14F-4D97-AF65-F5344CB8AC3E}">
        <p14:creationId xmlns:p14="http://schemas.microsoft.com/office/powerpoint/2010/main" val="10811254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Custom Desig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1806</Words>
  <Application>Microsoft Office PowerPoint</Application>
  <PresentationFormat>Widescreen</PresentationFormat>
  <Paragraphs>267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Arial</vt:lpstr>
      <vt:lpstr>Calibri</vt:lpstr>
      <vt:lpstr>Courier New</vt:lpstr>
      <vt:lpstr>Noto Sans Symbols</vt:lpstr>
      <vt:lpstr>Times New Roman</vt:lpstr>
      <vt:lpstr>Verdana</vt:lpstr>
      <vt:lpstr>Wingdings</vt:lpstr>
      <vt:lpstr>Custom Design</vt:lpstr>
      <vt:lpstr>3_Office Theme</vt:lpstr>
      <vt:lpstr>2_Office Theme</vt:lpstr>
      <vt:lpstr>1_Office Theme</vt:lpstr>
      <vt:lpstr>Office Theme</vt:lpstr>
      <vt:lpstr>1_Custom Design</vt:lpstr>
      <vt:lpstr>                   Green QR: Smart Tree Information System</vt:lpstr>
      <vt:lpstr>Comments</vt:lpstr>
      <vt:lpstr>Title Justification</vt:lpstr>
      <vt:lpstr>Contents</vt:lpstr>
      <vt:lpstr>Abstract</vt:lpstr>
      <vt:lpstr>Introduction</vt:lpstr>
      <vt:lpstr>Literature survey</vt:lpstr>
      <vt:lpstr>Exisiting System</vt:lpstr>
      <vt:lpstr>Proposed System</vt:lpstr>
      <vt:lpstr>Proposed System cont… </vt:lpstr>
      <vt:lpstr>Proposed System cont…</vt:lpstr>
      <vt:lpstr>Planning</vt:lpstr>
      <vt:lpstr>Planning – Development Stage</vt:lpstr>
      <vt:lpstr>Design – Use Case Diagram</vt:lpstr>
      <vt:lpstr>Design – Class Diagram</vt:lpstr>
      <vt:lpstr>Design – Activity Diagram</vt:lpstr>
      <vt:lpstr>Design – Sequence Diagram</vt:lpstr>
      <vt:lpstr>Design – Collaboration Diagram</vt:lpstr>
      <vt:lpstr>Implementation</vt:lpstr>
      <vt:lpstr>Outputs</vt:lpstr>
      <vt:lpstr>Outputs cont…</vt:lpstr>
      <vt:lpstr>Research Paper</vt:lpstr>
      <vt:lpstr>References</vt:lpstr>
      <vt:lpstr>Github Dashboards of each student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Chaithanya Reddy</dc:creator>
  <cp:lastModifiedBy>Chaithanya Reddy</cp:lastModifiedBy>
  <cp:revision>12</cp:revision>
  <dcterms:created xsi:type="dcterms:W3CDTF">2026-03-08T08:23:37Z</dcterms:created>
  <dcterms:modified xsi:type="dcterms:W3CDTF">2026-03-08T14:26:18Z</dcterms:modified>
</cp:coreProperties>
</file>